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872DC5B-3546-4138-AA5D-8180290D7A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D3B0CB9-DF8E-4F18-BDD9-8DE79CF027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DE303E-CCE0-4091-9115-263CC98332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54C201-BD09-4635-806B-3335133BA1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439A15-59F7-4DAF-9FF8-FB4BACF825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16D92E-ACA0-44A5-8D1B-B0D7E2C23E3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18F1C1-8F40-4D4A-A7EA-B4BD2A0034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9F6392-2584-4FE7-B000-900B9D2650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E41656-0A3D-4ACB-B9C3-E30A4342D33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028E52-87E1-4ED8-B08F-D663E1B17F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C56C12-DE05-487D-B560-5DF780F851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F2ECE1-C29B-4876-8830-C2872950DD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02381B-7B96-4F1D-9581-073FBA22B0C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e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172800"/>
            <a:ext cx="8229240" cy="33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Pathogen Identification &amp; Surveillance</a:t>
            </a:r>
            <a:br>
              <a:rPr sz="5400"/>
            </a:b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Through Next-Generation Sequencing</a:t>
            </a:r>
            <a:endParaRPr b="0" lang="en-GB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1828800" y="3657600"/>
            <a:ext cx="54860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38160">
            <a:solidFill>
              <a:srgbClr val="02809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57200" y="3840480"/>
            <a:ext cx="8229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c107"/>
                </a:solidFill>
                <a:latin typeface="Calibri"/>
              </a:rPr>
              <a:t>Experiences from Bioinformatic Training by Africa CDC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0" y="5486400"/>
            <a:ext cx="82292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4b4b4"/>
                </a:solidFill>
                <a:latin typeface="Calibri"/>
              </a:rPr>
              <a:t>Edward Kiritu, Research Associate</a:t>
            </a:r>
            <a:br>
              <a:rPr sz="1600"/>
            </a:br>
            <a:r>
              <a:rPr b="0" lang="en-US" sz="1600" spc="-1" strike="noStrike">
                <a:solidFill>
                  <a:srgbClr val="b4b4b4"/>
                </a:solidFill>
                <a:latin typeface="Calibri"/>
              </a:rPr>
              <a:t>ILRI Genomics Platform</a:t>
            </a:r>
            <a:br>
              <a:rPr sz="1600"/>
            </a:br>
            <a:r>
              <a:rPr b="0" lang="en-US" sz="1600" spc="-1" strike="noStrike">
                <a:solidFill>
                  <a:srgbClr val="b4b4b4"/>
                </a:solidFill>
                <a:latin typeface="Calibri"/>
              </a:rPr>
              <a:t>June 12, 2026 | Umeå University, Sweden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2073960" y="109800"/>
            <a:ext cx="49953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Presentation Overview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731520" y="1097280"/>
            <a:ext cx="7680600" cy="27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🔬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Why genomic surveillance matters for emerging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🧪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Challenges in recovering viral genomes from clinical samples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🧬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Comparison of NGS approaches (Metagenomics vs. Targeted Enrichment)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🎯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Tiled amplicon sequencing methodology - practical implementation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Real-world application: RVFV, Dengue, and Chikungunya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assignment and phylogenetic analysis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Impact on outbreak response and surveillance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57200" y="2286000"/>
            <a:ext cx="822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1: Rift Valley Fever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57200" y="4572000"/>
            <a:ext cx="82292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The Disease, The Virus, The Challenge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1452240" y="109800"/>
            <a:ext cx="62391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Rift Valley fever: The Disease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731520" y="1097280"/>
            <a:ext cx="7680600" cy="27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Endemic in sub-Saharan Africa &amp; Arabian Peninsula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Zoonotic disease transmitted by Aedes &amp; Culex mosquitoes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First described 1931 following sheep abortion epidemic in Kenya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Clinical manifestations: mild febrile illness → hemorrhagic fever, encephalitis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Case fatality ratio: 0.5-2.0% in humans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Livestock impact: High abortion rates, neonatal mortality (50-100%)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WHO listed as priority for epidemic preparedness (post-2018)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1574280" y="109800"/>
            <a:ext cx="5995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RVFV Genome Organization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640080" y="1371600"/>
            <a:ext cx="7863480" cy="914040"/>
          </a:xfrm>
          <a:prstGeom prst="rect">
            <a:avLst/>
          </a:prstGeom>
          <a:solidFill>
            <a:srgbClr val="4682b4"/>
          </a:solidFill>
          <a:ln w="12600">
            <a:solidFill>
              <a:srgbClr val="4682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914400" y="1463040"/>
            <a:ext cx="731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L Segment (6,404 bp) — RNA-dependent polymerase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5"/>
          <p:cNvSpPr/>
          <p:nvPr/>
        </p:nvSpPr>
        <p:spPr>
          <a:xfrm>
            <a:off x="640080" y="2468880"/>
            <a:ext cx="7863480" cy="91404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914400" y="2560320"/>
            <a:ext cx="731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M Segment (3,885 bp) — Glycoproteins (Gn, Gc)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640080" y="3566160"/>
            <a:ext cx="7863480" cy="914040"/>
          </a:xfrm>
          <a:prstGeom prst="rect">
            <a:avLst/>
          </a:prstGeom>
          <a:solidFill>
            <a:srgbClr val="cc0033"/>
          </a:solidFill>
          <a:ln w="12600">
            <a:solidFill>
              <a:srgbClr val="cc003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914400" y="3657600"/>
            <a:ext cx="731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S Segment (1,690 bp) — Nucleocapsid (NP) &amp; NSs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2077920" y="109800"/>
            <a:ext cx="49878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RVFV Genetic Diversity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731520" y="1097280"/>
            <a:ext cx="7680600" cy="35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Lineages: 15 distinct lineages identified in Africa (A through O)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C: Most predominant (documented since 1976)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H: Second most common in recent outbreaks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Other lineages: Geographically or temporally restricted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🧬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Low genetic diversity overall: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4% nucleotide-level variation (highest: ~5% in M-segment)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1% amino acid-level variation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NO well-defined serotypes (unlike dengue virus)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43400" y="109800"/>
            <a:ext cx="76564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Related Mosquito-Borne Pathogens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731520" y="1097280"/>
            <a:ext cx="7680600" cy="35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🦟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DENGUE VIRUS (DENV):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 serotypes (DENV-1 to DENV-4)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Single-stranded RNA genome (~10.7-11 kb)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WHO: Top 10 global public health threats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🦟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CHIKUNGUNYA VIRUS (CHIKV):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Genome: ~11.8 kb single-stranded RNA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Characteristic debilitating joint pain (arthralgia)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Endemic in &gt;110 countries; significant African circulation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457200" y="2286000"/>
            <a:ext cx="822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2: NGS Challenges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7200" y="4572000"/>
            <a:ext cx="82292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Why Low Titers &amp; Sample Quality Matter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1522440" y="109800"/>
            <a:ext cx="60987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Challenge 1: Low Viral Titers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731520" y="1097280"/>
            <a:ext cx="7680600" cy="35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❌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RT-qPCR Ct values: Higher = lower viral load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Ct &lt;20: High viral load (excellent for sequencing)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Ct 20-30: Moderate load (suitable for amplicon PCR)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Ct &gt;30: LOW viral load (metagenomics fails)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Why This Matters: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Viremia drops 8 days post-infection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Clinical samples often delayed (&gt;8 days)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Metagenomics needs 99.9% of reads to be pathogen → impossible with Ct &gt;30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-269640" y="109800"/>
            <a:ext cx="96832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Challenge 2: Host Background Contamination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731520" y="1097280"/>
            <a:ext cx="7680600" cy="35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Reality of clinical samples: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&gt;99.9% of sequences are HOST DNA/RNA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&lt;0.1% are pathogen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Metagenomics generates millions of reads → but mostly useless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💰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Impact on cost: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Need 100,000-1,000,000 total reads to achieve adequate pathogen coverage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Sequencing cost scales with read count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Solution: Enrichment to reduce host proportion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-93600" y="109800"/>
            <a:ext cx="93312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Challenge 3: RNA Degradation &amp; Cold Chain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731520" y="1097280"/>
            <a:ext cx="7680600" cy="39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⚠️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RNA is fragile: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Single-stranded RNA highly susceptible to degradation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RNases ubiquitous in environment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Temperature fluctuations accelerate degradation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❄️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Critical cold chain requirements: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Samples must be transported at -20°C or on dry ice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Store at -80°C immediately upon receipt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Minimize time at room temperature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AVOID repeated freeze-thaw cycles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91840" y="109800"/>
            <a:ext cx="79596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Challenge 4: Cell Culture Alternatives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731520" y="1097280"/>
            <a:ext cx="7680600" cy="35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Produces high-titer virus (Ct ~10-15)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Pure viral genomes (minimal host)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Disadvantages: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TIME: 7-14 days for isolation &amp; propagation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COST: $200-500 per isolate (expensive equipment &amp; reagents)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SAFETY: Requires BSL-3 containment for RVFV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QUALITY: Viral passaging introduces mutations NOT in clinical sample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457200" y="2286000"/>
            <a:ext cx="822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3: NGS Approaches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457200" y="4572000"/>
            <a:ext cx="82292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Selecting the Right Method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393120" y="109800"/>
            <a:ext cx="83574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Approach 1: Metagenomics (Unbiased)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731520" y="1097280"/>
            <a:ext cx="7680600" cy="429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Concept: Sequence everything in the sample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Unbiased - discovers unexpected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Useful when etiology UNKNOWN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Disadvantages: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Low sensitivity for low-abundance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Expensive (many reads wasted on host)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Slow analysis (extensive bioinformatic processing)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Requires high coverage (100,000+ reads)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10040" y="109800"/>
            <a:ext cx="83239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Approach 2: Capture Probes (Targeted)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731520" y="1097280"/>
            <a:ext cx="7680600" cy="429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Concept: Biotinylated probes hybridize to target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Highly specific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Effective for very low titer samples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Disadvantages: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EXPENSIVE probe synthesis ($5,000-10,000 upfront)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SLOW workflow (hybridization steps)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Less cost-effective for rapid response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Requires sequence knowledge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-650160" y="109800"/>
            <a:ext cx="104439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Approach 3: Amplicon PCR (RECOMMENDED) ⭐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731520" y="1097280"/>
            <a:ext cx="7680600" cy="46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Concept: PCR-amplified short DNA fragments, sequenced in parallel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Advantages: ⭐⭐⭐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 specificity (mostly pathogen reads)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 sensitivity (works with Ct &gt;30)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FAST (24-48 hours, not 14 days)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COST-EFFECTIVE ($50-100 per sample)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FLEXIBLE (design new primers for variants quickly)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Disadvantages: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Requires prior sequence knowledge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Cannot discover novel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98960" y="109800"/>
            <a:ext cx="81453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NGS Methods: Comparative Summary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457200" y="1188720"/>
            <a:ext cx="2102760" cy="594000"/>
          </a:xfrm>
          <a:prstGeom prst="rect">
            <a:avLst/>
          </a:prstGeom>
          <a:solidFill>
            <a:srgbClr val="192e61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548640" y="1261800"/>
            <a:ext cx="1919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Criterion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2560320" y="1188720"/>
            <a:ext cx="2285640" cy="594000"/>
          </a:xfrm>
          <a:prstGeom prst="rect">
            <a:avLst/>
          </a:prstGeom>
          <a:solidFill>
            <a:srgbClr val="192e61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2651760" y="1261800"/>
            <a:ext cx="2102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Metagenomics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7"/>
          <p:cNvSpPr/>
          <p:nvPr/>
        </p:nvSpPr>
        <p:spPr>
          <a:xfrm>
            <a:off x="4846320" y="1188720"/>
            <a:ext cx="2285640" cy="594000"/>
          </a:xfrm>
          <a:prstGeom prst="rect">
            <a:avLst/>
          </a:prstGeom>
          <a:solidFill>
            <a:srgbClr val="192e61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4937760" y="1261800"/>
            <a:ext cx="2102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Capture Probes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9"/>
          <p:cNvSpPr/>
          <p:nvPr/>
        </p:nvSpPr>
        <p:spPr>
          <a:xfrm>
            <a:off x="7132320" y="1188720"/>
            <a:ext cx="2011320" cy="594000"/>
          </a:xfrm>
          <a:prstGeom prst="rect">
            <a:avLst/>
          </a:prstGeom>
          <a:solidFill>
            <a:srgbClr val="192e61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7223760" y="1261800"/>
            <a:ext cx="1828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Amplicon PCR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11"/>
          <p:cNvSpPr/>
          <p:nvPr/>
        </p:nvSpPr>
        <p:spPr>
          <a:xfrm>
            <a:off x="457200" y="1874520"/>
            <a:ext cx="210276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12"/>
          <p:cNvSpPr/>
          <p:nvPr/>
        </p:nvSpPr>
        <p:spPr>
          <a:xfrm>
            <a:off x="548640" y="1947600"/>
            <a:ext cx="19198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Suitable Ct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 13"/>
          <p:cNvSpPr/>
          <p:nvPr/>
        </p:nvSpPr>
        <p:spPr>
          <a:xfrm>
            <a:off x="2560320" y="1874520"/>
            <a:ext cx="228564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14"/>
          <p:cNvSpPr/>
          <p:nvPr/>
        </p:nvSpPr>
        <p:spPr>
          <a:xfrm>
            <a:off x="2651760" y="19476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&lt;25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15"/>
          <p:cNvSpPr/>
          <p:nvPr/>
        </p:nvSpPr>
        <p:spPr>
          <a:xfrm>
            <a:off x="4846320" y="1874520"/>
            <a:ext cx="228564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16"/>
          <p:cNvSpPr/>
          <p:nvPr/>
        </p:nvSpPr>
        <p:spPr>
          <a:xfrm>
            <a:off x="4937760" y="19476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&gt;25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17"/>
          <p:cNvSpPr/>
          <p:nvPr/>
        </p:nvSpPr>
        <p:spPr>
          <a:xfrm>
            <a:off x="7132320" y="1874520"/>
            <a:ext cx="201132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18"/>
          <p:cNvSpPr/>
          <p:nvPr/>
        </p:nvSpPr>
        <p:spPr>
          <a:xfrm>
            <a:off x="7223760" y="1947600"/>
            <a:ext cx="1828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20-35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19"/>
          <p:cNvSpPr/>
          <p:nvPr/>
        </p:nvSpPr>
        <p:spPr>
          <a:xfrm>
            <a:off x="457200" y="2560320"/>
            <a:ext cx="210276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0"/>
          <p:cNvSpPr/>
          <p:nvPr/>
        </p:nvSpPr>
        <p:spPr>
          <a:xfrm>
            <a:off x="548640" y="2633400"/>
            <a:ext cx="19198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Sensitivity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21"/>
          <p:cNvSpPr/>
          <p:nvPr/>
        </p:nvSpPr>
        <p:spPr>
          <a:xfrm>
            <a:off x="2560320" y="2560320"/>
            <a:ext cx="228564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22"/>
          <p:cNvSpPr/>
          <p:nvPr/>
        </p:nvSpPr>
        <p:spPr>
          <a:xfrm>
            <a:off x="2651760" y="26334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Low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23"/>
          <p:cNvSpPr/>
          <p:nvPr/>
        </p:nvSpPr>
        <p:spPr>
          <a:xfrm>
            <a:off x="4846320" y="2560320"/>
            <a:ext cx="228564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24"/>
          <p:cNvSpPr/>
          <p:nvPr/>
        </p:nvSpPr>
        <p:spPr>
          <a:xfrm>
            <a:off x="4937760" y="26334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High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25"/>
          <p:cNvSpPr/>
          <p:nvPr/>
        </p:nvSpPr>
        <p:spPr>
          <a:xfrm>
            <a:off x="7132320" y="2560320"/>
            <a:ext cx="201132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6"/>
          <p:cNvSpPr/>
          <p:nvPr/>
        </p:nvSpPr>
        <p:spPr>
          <a:xfrm>
            <a:off x="7223760" y="2633400"/>
            <a:ext cx="1828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Very High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27"/>
          <p:cNvSpPr/>
          <p:nvPr/>
        </p:nvSpPr>
        <p:spPr>
          <a:xfrm>
            <a:off x="457200" y="3246120"/>
            <a:ext cx="210276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28"/>
          <p:cNvSpPr/>
          <p:nvPr/>
        </p:nvSpPr>
        <p:spPr>
          <a:xfrm>
            <a:off x="548640" y="3319200"/>
            <a:ext cx="19198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Turnaround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 29"/>
          <p:cNvSpPr/>
          <p:nvPr/>
        </p:nvSpPr>
        <p:spPr>
          <a:xfrm>
            <a:off x="2560320" y="3246120"/>
            <a:ext cx="228564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30"/>
          <p:cNvSpPr/>
          <p:nvPr/>
        </p:nvSpPr>
        <p:spPr>
          <a:xfrm>
            <a:off x="2651760" y="33192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1-2 weeks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31"/>
          <p:cNvSpPr/>
          <p:nvPr/>
        </p:nvSpPr>
        <p:spPr>
          <a:xfrm>
            <a:off x="4846320" y="3246120"/>
            <a:ext cx="228564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32"/>
          <p:cNvSpPr/>
          <p:nvPr/>
        </p:nvSpPr>
        <p:spPr>
          <a:xfrm>
            <a:off x="4937760" y="33192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2-3 days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33"/>
          <p:cNvSpPr/>
          <p:nvPr/>
        </p:nvSpPr>
        <p:spPr>
          <a:xfrm>
            <a:off x="7132320" y="3246120"/>
            <a:ext cx="201132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34"/>
          <p:cNvSpPr/>
          <p:nvPr/>
        </p:nvSpPr>
        <p:spPr>
          <a:xfrm>
            <a:off x="7223760" y="3319200"/>
            <a:ext cx="1828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24-48 hrs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35"/>
          <p:cNvSpPr/>
          <p:nvPr/>
        </p:nvSpPr>
        <p:spPr>
          <a:xfrm>
            <a:off x="457200" y="3931920"/>
            <a:ext cx="210276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36"/>
          <p:cNvSpPr/>
          <p:nvPr/>
        </p:nvSpPr>
        <p:spPr>
          <a:xfrm>
            <a:off x="548640" y="4005000"/>
            <a:ext cx="19198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Cost/sample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37"/>
          <p:cNvSpPr/>
          <p:nvPr/>
        </p:nvSpPr>
        <p:spPr>
          <a:xfrm>
            <a:off x="2560320" y="3931920"/>
            <a:ext cx="228564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38"/>
          <p:cNvSpPr/>
          <p:nvPr/>
        </p:nvSpPr>
        <p:spPr>
          <a:xfrm>
            <a:off x="2651760" y="40050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$500-1000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39"/>
          <p:cNvSpPr/>
          <p:nvPr/>
        </p:nvSpPr>
        <p:spPr>
          <a:xfrm>
            <a:off x="4846320" y="3931920"/>
            <a:ext cx="228564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40"/>
          <p:cNvSpPr/>
          <p:nvPr/>
        </p:nvSpPr>
        <p:spPr>
          <a:xfrm>
            <a:off x="4937760" y="40050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$300-500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41"/>
          <p:cNvSpPr/>
          <p:nvPr/>
        </p:nvSpPr>
        <p:spPr>
          <a:xfrm>
            <a:off x="7132320" y="3931920"/>
            <a:ext cx="201132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42"/>
          <p:cNvSpPr/>
          <p:nvPr/>
        </p:nvSpPr>
        <p:spPr>
          <a:xfrm>
            <a:off x="7223760" y="4005000"/>
            <a:ext cx="1828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$50-100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43"/>
          <p:cNvSpPr/>
          <p:nvPr/>
        </p:nvSpPr>
        <p:spPr>
          <a:xfrm>
            <a:off x="457200" y="4617720"/>
            <a:ext cx="210276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44"/>
          <p:cNvSpPr/>
          <p:nvPr/>
        </p:nvSpPr>
        <p:spPr>
          <a:xfrm>
            <a:off x="548640" y="4690800"/>
            <a:ext cx="19198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Skill Required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 45"/>
          <p:cNvSpPr/>
          <p:nvPr/>
        </p:nvSpPr>
        <p:spPr>
          <a:xfrm>
            <a:off x="2560320" y="4617720"/>
            <a:ext cx="228564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46"/>
          <p:cNvSpPr/>
          <p:nvPr/>
        </p:nvSpPr>
        <p:spPr>
          <a:xfrm>
            <a:off x="2651760" y="46908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Advanced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 47"/>
          <p:cNvSpPr/>
          <p:nvPr/>
        </p:nvSpPr>
        <p:spPr>
          <a:xfrm>
            <a:off x="4846320" y="4617720"/>
            <a:ext cx="228564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48"/>
          <p:cNvSpPr/>
          <p:nvPr/>
        </p:nvSpPr>
        <p:spPr>
          <a:xfrm>
            <a:off x="4937760" y="46908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Intermediate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 49"/>
          <p:cNvSpPr/>
          <p:nvPr/>
        </p:nvSpPr>
        <p:spPr>
          <a:xfrm>
            <a:off x="7132320" y="4617720"/>
            <a:ext cx="2011320" cy="594000"/>
          </a:xfrm>
          <a:prstGeom prst="rect">
            <a:avLst/>
          </a:prstGeom>
          <a:solidFill>
            <a:srgbClr val="ffffff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50"/>
          <p:cNvSpPr/>
          <p:nvPr/>
        </p:nvSpPr>
        <p:spPr>
          <a:xfrm>
            <a:off x="7223760" y="4690800"/>
            <a:ext cx="1828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Basic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 51"/>
          <p:cNvSpPr/>
          <p:nvPr/>
        </p:nvSpPr>
        <p:spPr>
          <a:xfrm>
            <a:off x="457200" y="5303520"/>
            <a:ext cx="210276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52"/>
          <p:cNvSpPr/>
          <p:nvPr/>
        </p:nvSpPr>
        <p:spPr>
          <a:xfrm>
            <a:off x="548640" y="5376600"/>
            <a:ext cx="19198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Best For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53"/>
          <p:cNvSpPr/>
          <p:nvPr/>
        </p:nvSpPr>
        <p:spPr>
          <a:xfrm>
            <a:off x="2560320" y="5303520"/>
            <a:ext cx="228564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54"/>
          <p:cNvSpPr/>
          <p:nvPr/>
        </p:nvSpPr>
        <p:spPr>
          <a:xfrm>
            <a:off x="2651760" y="53766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Unknown pathogen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55"/>
          <p:cNvSpPr/>
          <p:nvPr/>
        </p:nvSpPr>
        <p:spPr>
          <a:xfrm>
            <a:off x="4846320" y="5303520"/>
            <a:ext cx="228564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56"/>
          <p:cNvSpPr/>
          <p:nvPr/>
        </p:nvSpPr>
        <p:spPr>
          <a:xfrm>
            <a:off x="4937760" y="5376600"/>
            <a:ext cx="2102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High throughput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 57"/>
          <p:cNvSpPr/>
          <p:nvPr/>
        </p:nvSpPr>
        <p:spPr>
          <a:xfrm>
            <a:off x="7132320" y="5303520"/>
            <a:ext cx="2011320" cy="594000"/>
          </a:xfrm>
          <a:prstGeom prst="rect">
            <a:avLst/>
          </a:prstGeom>
          <a:solidFill>
            <a:srgbClr val="f5f5f5"/>
          </a:solidFill>
          <a:ln w="9360">
            <a:solidFill>
              <a:srgbClr val="b4b4b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58"/>
          <p:cNvSpPr/>
          <p:nvPr/>
        </p:nvSpPr>
        <p:spPr>
          <a:xfrm>
            <a:off x="7223760" y="5376600"/>
            <a:ext cx="1828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Rapid response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457200" y="2286000"/>
            <a:ext cx="82292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4: Tiled Amplicon PCR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457200" y="4572000"/>
            <a:ext cx="82292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Complete Genome Recovery from Low-Titer Samples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1376640" y="109800"/>
            <a:ext cx="63900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Tiled Amplicon Primer Design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731520" y="1097280"/>
            <a:ext cx="7680600" cy="39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🎯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Concept: Overlapping 'tiled' primers cover entire genome with NO GAPS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RVFV Primer Scheme: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74 total multiplex primers (38 in Pool 1, 36 in Pool 2)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Target amplicon size: ~400 bp (standard for short-read sequencing)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Coverage by segment: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L segment: 20 primer pairs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M segment: 12 primer pairs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S segment: 6 primer pairs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 silico predicted coverage: 97-99%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-523440" y="109800"/>
            <a:ext cx="101908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Two-Pool Strategy Prevents Primer Interference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731520" y="1097280"/>
            <a:ext cx="7680600" cy="50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⚙️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Why two separate reactions?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Problem with single multiplex: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74 different primers competing for binding sites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Complementary primers hybridize to each other (primer-dimers)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PCR amplifies wrong products (primer-dimers instead of targets)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Wasteful and uneven coverage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Solution: Two-pool approach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Pool 1: Odd-numbered primers (1, 3, 5, ...) = 38 primers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Pool 2: Even-numbered primers (2, 4, 6, ...) = 36 primers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Run two separate PCR reactions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Reduces primer competition, minimizes dimers ✓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857160" y="109800"/>
            <a:ext cx="74293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Amplicon PCR Workflow Overview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731520" y="1097280"/>
            <a:ext cx="7680600" cy="54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0: Sample Preparation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1. RNA extraction from clinical sample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2. Quality assessment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1: PCR &amp; Library Preparation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3. cDNA synthesis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4. Amplicon PCR (Pool 1 &amp; Pool 2 reactions)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5. PCR cleanup (magnetic bead purification)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6. Library preparation (add sequencing adapters/barcodes)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2-3: Sequencing &amp; Analysis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7. Load library onto Illumina sequencer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8. Sequencing (12-24 hours)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9. Bioinformatic analysis (alignment, variant calling, consensus)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851760" y="109800"/>
            <a:ext cx="74397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Amplicon PCR Reaction Conditions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731520" y="1097280"/>
            <a:ext cx="7680600" cy="54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🧪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Master mix components (per 50 µL reaction):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cDNA template: 2-5 µL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Master mix (Taq polymerase, dNTPs): 25 µL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Primer pool (Pool 1 or Pool 2): 10 µM, 5 µL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Water: variable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🌡️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PCR cycling: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Initial denaturation: 98°C, 30 sec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35 cycles: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Denaturation: 95°C, 15 sec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Annealing: 63°C, 5 min (LONG annealing for specificity)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Hold: 4°C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Key features: Low primer conc., long annealing → high specificity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-877680" y="109800"/>
            <a:ext cx="108993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Real-World Results: Genome Coverage Comparison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731520" y="1188720"/>
            <a:ext cx="7680600" cy="42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Study Design: 5 cattle samples from RVF outbreaks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Compared 3 enrichment approaches on same samples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📈 Key Findings: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Cell Culture Enrichment (CCE):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Coverage: &gt;99% (gold standard)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Ct range: &gt;25 produces &gt;99% genomes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✗ Time: 7-14 days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✗ Cost: $200-500 per isolate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Amplicon PCR Enrichment (amPCRe):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Coverage: 80-97% (excellent!)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Ct range: &gt;30 produces &gt;80% genomes (LOW TITER SUCCESS!)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Time: 24-48 hours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Cost: $50-100 per sample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Direct Sequencing (No enrichment):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✗ Coverage: 25-70% (insufficient)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✗ Failed for low-titer samples (Ct &gt;30)</a:t>
            </a:r>
            <a:br>
              <a:rPr sz="1300"/>
            </a:b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616320" y="109800"/>
            <a:ext cx="79106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Quality Validation: SNP Concordance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731520" y="1097280"/>
            <a:ext cx="7680600" cy="39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How accurate is amplicon PCR sequencing?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Compared variant calls (SNPs) across all 3 methods: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Concordance Results (% of SNPs in perfect agreement):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 segment: 98.42% (191 SNPs identified)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 segment: 99.31% (147 SNPs identified)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 segment: 91.04% (67 SNPs identified)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Conclusion: Amplicon PCR variants are RELIABLE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Suitable for phylogenetic inference and evolutionary studies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457200" y="2286000"/>
            <a:ext cx="822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5: Phylogenetics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457200" y="4572000"/>
            <a:ext cx="82292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From Sequences to Outbreak Intelligence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794520" y="109800"/>
            <a:ext cx="75542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Why Phylogenetic Analysis Matters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731520" y="1097280"/>
            <a:ext cx="7680600" cy="429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 outbreak investigation: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Determine source (local amplification vs. imported)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Identify transmission chains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Assess genetic relationship of outbreak isolates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Detect zoonotic spillover events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 surveillance: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Monitor temporal and spatial spread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Detect introduction of new lineages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Understand evolutionary dynamics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Guide control strategy decisions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820440" y="109800"/>
            <a:ext cx="75024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RVFV Lineage Classification System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731520" y="1097280"/>
            <a:ext cx="7680600" cy="429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Current classification: 15 lineages (A through O)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Based on glycoprotein (Gn) gene &amp; whole genome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Geographic Distribution: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C: Most predominant (since 1976)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H: Second most common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Other lineages: Geographically/temporally restricted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Multiple lineages co-circulate in single country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🎯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No clear geographic clustering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Suggests widespread transmission &amp; dispersal across Africa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1216800" y="109800"/>
            <a:ext cx="67100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Phylogenetic Tree Construction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731520" y="1097280"/>
            <a:ext cx="7680600" cy="54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🌳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Methods used: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Maximum Likelihood (ML): Statistically rigorous, assumes evolutionary model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Bayesian: Probabilistic, includes uncertainty estimates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Neighbor-Joining (NJ): Fast, good for large datasets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🔧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Software tools: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IQ-TREE: Fast ML trees, bootstrap support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MrBayes: Bayesian inference, posterior probabilities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PAUP: Classic phylogenetics software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Reference sequences: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51 unique Gn gene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47 unique whole genome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Chosen for bootstrap support &gt;70%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-787320" y="109800"/>
            <a:ext cx="107182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RVFV Typing Tool: Automated Lineage Assignment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731520" y="1097280"/>
            <a:ext cx="7680600" cy="50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Web Application: https://www.genomedetective.com/app/typingtool/rvfv/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🖥️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Command-line: https://github.com/ajodeh-juma/rvfvtyping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Workflow: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1. User submits sequence (Gn gene or whole genome)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2. DIAMOND search for species classification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3. MAFFT alignment to reference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4. ML tree construction (IQ-TREE)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5. Lineage assignment if bootstrap &gt;70%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Validation Results (Oyola et al. 2022):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Gn gene: 100% accuracy on 129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Whole genome: 99-100% accuracy on 234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-78480" y="109800"/>
            <a:ext cx="93009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Real Outbreak Application: Kenya 2021 RVF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731520" y="1097280"/>
            <a:ext cx="7680600" cy="58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Scenario: RVF outbreak detected in livestock (Kenya)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Sample Analysis: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 cattle samples collected from outbreak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All samples sequenced using amplicon PCR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Complete/near-complete genomes recovered (&gt;80% coverage)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Results: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ALL 5 samples assigned to LINEAGE 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 phylogenetic consistency across methods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Epidemiological Implications: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Confirmed RVFV diagnosis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Likely ongoing local transmission (lineage C typical in Kenya)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Not new introduction from other region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1"/>
          <p:cNvSpPr/>
          <p:nvPr/>
        </p:nvSpPr>
        <p:spPr>
          <a:xfrm>
            <a:off x="457200" y="2286000"/>
            <a:ext cx="822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6: Implementation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Box 2"/>
          <p:cNvSpPr/>
          <p:nvPr/>
        </p:nvSpPr>
        <p:spPr>
          <a:xfrm>
            <a:off x="457200" y="4572000"/>
            <a:ext cx="82292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Rapid Outbreak Response &amp; Surveillance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2"/>
          <p:cNvSpPr/>
          <p:nvPr/>
        </p:nvSpPr>
        <p:spPr>
          <a:xfrm>
            <a:off x="796320" y="109800"/>
            <a:ext cx="75510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Rapid Outbreak Response Timeline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731520" y="1097280"/>
            <a:ext cx="7680600" cy="66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🚨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1 - Outbreak Detection: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Sample collection from suspected cases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RT-qPCR screening for rapid confirmation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RNA extraction, immediate shipment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⏱️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2-3 - Sequencing: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cDNA synthesis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Amplicon PCR + library prep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Load sequencer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4-6 - Analysis &amp; Results: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Read alignment &amp; quality control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Consensus genome generation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assignment &amp; phylogenetic placement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REPORT TO HEALTH AUTHORITIES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Total turnaround: 5-6 days (vs. 7-14 days cell culture)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2274480" y="109800"/>
            <a:ext cx="45946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Cost-Benefit Analysis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731520" y="1097280"/>
            <a:ext cx="7680600" cy="58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💰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Amplicon PCR approach: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Equipment: $20,000-50,000 (standard lab equipment)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Per-sample cost: $50-100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💰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Cell Culture approach: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Equipment: $100,000+ (BSL-3 facility required)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Per-isolate cost: $200-500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Cost comparison for 50-sample outbreak: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Amplicon PCR: 50 × $100 = $5,000 ✓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Cell culture: 50 × $500 = $25,000 ✗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⏰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Time cost: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Amplicon PCR: 2 days ✓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Cell culture: 14 days ✗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519480" y="109800"/>
            <a:ext cx="81043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Africa CDC Capacity Building Initiative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3"/>
          <p:cNvSpPr/>
          <p:nvPr/>
        </p:nvSpPr>
        <p:spPr>
          <a:xfrm>
            <a:off x="731520" y="1097280"/>
            <a:ext cx="7680600" cy="58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🎯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Goals: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Build genomic surveillance capacity in African labs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Reduce dependence on international reference centers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Enable rapid, local outbreak response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Create standardized protocols across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Implementation strategy: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Establish 5-10 regional NGS hubs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Training in amplicon protocol &amp; bioinformatics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Cloud-based analysis (low infrastructure cost)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Mentorship networks between labs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🧬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Multi-pathogen approach: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Same workflow for dengue, chikungunya, Zika, etc.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Adaptable bioinformatic pipelines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-406800" y="109800"/>
            <a:ext cx="99576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Amplicon Sequencing for Multiple Arboviruses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731520" y="1097280"/>
            <a:ext cx="7680600" cy="58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🦟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DENGUE (DENV):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 co-circulating serotypes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Serotype identification crucial for vaccine strategy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Same amplicon PCR workflow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🦟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CHIKUNGUNYA (CHIKV):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Rapid global spread documented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Genomic analysis tracks geographic routes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Detection of virulence-associated variants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UNIFIED APPROACH: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Design pathogen-specific primers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Use same PCR protocol &amp; equipment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Adapt bioinformatic pipeline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INTEGRATED ARBOVIRUS SURVEILLANCE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 w="9360">
            <a:solidFill>
              <a:srgbClr val="192e6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2919960" y="109800"/>
            <a:ext cx="33037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731520" y="1097280"/>
            <a:ext cx="7680600" cy="66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1️⃣ Genomic surveillance transforms outbreak response - rapid, actionable intelligence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2️⃣ Amplicon PCR is RECOMMENDED for emerging disease surveillance: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Works with low-titer samples (Ct &gt;30)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Fast (24-48 hours) &amp; cost-effective ($50-100)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 sensitivity &amp; specificity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3️⃣ Phylogenetic analysis converts sequences into epidemiological answers: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Source of outbreak (imported vs. local)?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Transmission chains?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New lineage introduction?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4️⃣ Same methodology scales to multiple arboviruses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RVFV, dengue, chikungunya, Zika, West Nile...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Enables integrated surveillance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5️⃣ Africa CDC leadership critical for distributed capacity building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1"/>
          <p:cNvSpPr/>
          <p:nvPr/>
        </p:nvSpPr>
        <p:spPr>
          <a:xfrm>
            <a:off x="457200" y="2286000"/>
            <a:ext cx="822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Discussion &amp; Questions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457200" y="4572000"/>
            <a:ext cx="82292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Your Insights Matter!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e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1"/>
          <p:cNvSpPr/>
          <p:nvPr/>
        </p:nvSpPr>
        <p:spPr>
          <a:xfrm>
            <a:off x="1166400" y="457200"/>
            <a:ext cx="681048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Contact &amp; Further Resources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914400" y="1645920"/>
            <a:ext cx="7314840" cy="36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📧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Email &amp; Collaboration: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Samuel O. Oyola (ILRI): S.Oyola@cgiar.org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Gilbert Kibet (Presentation Author)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Africa CDC: [Regional coordinator]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🔗 Online Tools &amp; Databases: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RVFV Typing Tool: https://www.genomedetective.com/app/typingtool/rvfv/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GitHub/Primal Scheme: https://github.com/artic-network/primal_schemes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NCBI GenBank: https://www.ncbi.nlm.nih.gov/genbank/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📚 Key Publications: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Oyola et al. (2022) BMC Genomics - RVFV lineage assignment tool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Juma et al. (2023) Viruses - Amplicon PCR methodology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🎓 Training Resources: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Africa CDC Bioinformatic Training Portal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Coursera NGS Analysis Courses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EMBL-EBI Online Workshops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2026-06-12T00:40:48Z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