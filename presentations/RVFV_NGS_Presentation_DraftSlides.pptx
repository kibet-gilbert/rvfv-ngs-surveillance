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slide38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B1DD46-8A75-4898-B2C6-C2FC9D7AB4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02707C-C970-48A5-BCAA-ABF55005FF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68DCCD9-5A41-4B22-AED0-D1F39291F8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62CF45E-C3A3-4CE2-A056-83E2F2AADF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EE401B2-EE9A-426F-8FC3-BE9C148390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4A749ED-6FA0-49BA-8F5F-07B30EF825D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90EB070-8734-4A07-99FE-60E2DD67CF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D4C7AD1-676E-4FA0-8765-7F1C1433BE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D1C4519-C224-463C-B594-9C2318703E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CE566C9-D96F-43C8-9071-55D946F3B8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C998C2B-100C-4C92-B5C1-B0A2359A2F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2DBC9C-4DE2-43F6-BAA4-71D38BE17C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D2B962-FFE4-4299-BAA2-88E2AAE500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CE7575-1890-41C3-B8DC-317D139CCA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24EEE3-0091-48EA-B811-EA1406E9D4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67ED4F-99FA-4B6B-A894-86E6C00827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4D7BE8-4176-42FD-BA50-A0BEAE1BA4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F485C3-E393-40F7-AC22-5ADE2494BF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BE352B-2FB8-45D5-B10F-758247855F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0488F9-9A87-4DC4-9123-B9F5761427C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3B75EC-D850-4897-AC96-4E8EBC8FD5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423853-84F3-4C75-81D8-13BC9397AC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80800"/>
            <a:ext cx="822924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Pathogen Identification &amp; Surveillance</a:t>
            </a:r>
            <a:br>
              <a:rPr sz="5400"/>
            </a:b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Through Next-Generation Sequencing</a:t>
            </a:r>
            <a:endParaRPr b="0" lang="en-GB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1828800" y="3657600"/>
            <a:ext cx="5486040" cy="360"/>
          </a:xfrm>
          <a:prstGeom prst="rect">
            <a:avLst/>
          </a:prstGeom>
          <a:gradFill rotWithShape="0">
            <a:gsLst>
              <a:gs pos="0">
                <a:srgbClr val="3e7fcc"/>
              </a:gs>
              <a:gs pos="100000">
                <a:srgbClr val="a4c1ff"/>
              </a:gs>
            </a:gsLst>
            <a:lin ang="16200000"/>
          </a:gradFill>
          <a:ln w="38100">
            <a:solidFill>
              <a:srgbClr val="0280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44280" bIns="-44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3840480"/>
            <a:ext cx="8229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c107"/>
                </a:solidFill>
                <a:latin typeface="Calibri"/>
              </a:rPr>
              <a:t>Experiences from Bioinformatic Training by Africa CDC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5486400"/>
            <a:ext cx="8229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Edward Kiritu, Research Associate</a:t>
            </a:r>
            <a:br>
              <a:rPr sz="1600"/>
            </a:b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ILRI Genomics Platform</a:t>
            </a:r>
            <a:br>
              <a:rPr sz="1600"/>
            </a:br>
            <a:r>
              <a:rPr b="0" lang="en-US" sz="1600" spc="-1" strike="noStrike">
                <a:solidFill>
                  <a:srgbClr val="b4b4b4"/>
                </a:solidFill>
                <a:latin typeface="Calibri"/>
              </a:rPr>
              <a:t>June 12, 2026 | Umeå University, Sweden</a:t>
            </a:r>
            <a:endParaRPr b="0" lang="en-GB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2073960" y="109800"/>
            <a:ext cx="4995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Presentation Overview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1097280"/>
            <a:ext cx="7680600" cy="27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genomic surveillance matters for emerging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🧪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Challenges in recovering viral genomes from clinical samples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Comparison of NGS approaches (Metagenomics vs. Targeted Enrichment)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Tiled amplicon sequencing methodology - practical implementation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Real-world application: RVFV, Dengue, and Chikungunya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assignment and phylogenetic analysis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Impact on outbreak response and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1: Rift Valley Fever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The Disease, The Virus, The Challenge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1414080" y="109800"/>
            <a:ext cx="63151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Rift Valley Fever: The Disease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731520" y="1097280"/>
            <a:ext cx="7680600" cy="271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Endemic in sub-Saharan Africa &amp; Arabian Peninsula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Zoonotic disease transmitted by Aedes &amp; Culex mosquitoes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First described 1931 following sheep abortion epidemic in Kenya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Clinical manifestations: mild febrile illness → hemorrhagic fever, encephalitis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Case fatality ratio: 0.5-2.0% in humans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Livestock impact: High abortion rates, neonatal mortality (50-100%)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 listed as priority for epidemic preparedness (post-2018)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574280" y="109800"/>
            <a:ext cx="5995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Genome Organization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640080" y="1371600"/>
            <a:ext cx="7863480" cy="914040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914400" y="1463040"/>
            <a:ext cx="731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L Segment (6,404 bp) — RNA-dependent polymerase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640080" y="2468880"/>
            <a:ext cx="7863480" cy="914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914400" y="2560320"/>
            <a:ext cx="731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M Segment (3,885 bp) — Glycoproteins (Gn, Gc)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640080" y="3566160"/>
            <a:ext cx="7863480" cy="91404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914400" y="3657600"/>
            <a:ext cx="7314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S Segment (1,690 bp) — Nucleocapsid (NP) &amp; NSs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2077920" y="109800"/>
            <a:ext cx="49878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Genetic Diversity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097280"/>
            <a:ext cx="7680600" cy="35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Lineages: 15 distinct lineages identified in Africa (A through O)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C: Most predominant (documented since 1976)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H: Second most common in recent outbreaks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Other lineages: Geographically or temporally restricted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Low genetic diversity overall: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4% nucleotide-level variation (highest: ~5% in M-segment)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1% amino acid-level variation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 well-defined serotypes (unlike dengue virus)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743400" y="109800"/>
            <a:ext cx="76564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Related Mosquito-Borne Pathogens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731520" y="1097280"/>
            <a:ext cx="7680600" cy="35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DENGUE VIRUS (DENV):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 serotypes (DENV-1 to DENV-4)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Single-stranded RNA genome (~10.7-11 kb)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WHO: Top 10 global public health threats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CHIKUNGUNYA VIRUS (CHIKV):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Genome: ~11.8 kb single-stranded RNA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Characteristic debilitating joint pain (arthralgia)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Endemic in &gt;110 countries; significant African circulation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2: NGS Challenges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Why Low Titers &amp; Sample Quality Matter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1522440" y="109800"/>
            <a:ext cx="6098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1: Low Viral Titers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731520" y="1097280"/>
            <a:ext cx="7680600" cy="35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❌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RT-qPCR Ct values: Higher = lower viral load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&lt;20: High viral load (excellent for sequencing)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20-30: Moderate load (suitable for amplicon PCR)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Ct &gt;30: LOW viral load (metagenomics fails)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This Matters: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Viremia drops 8 days post-infection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Clinical samples often delayed (&gt;8 days)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Metagenomics needs 99.9% of reads to be pathogen → impossible with Ct &gt;30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-269640" y="109800"/>
            <a:ext cx="9683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2: Host Background Contamination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31520" y="1097280"/>
            <a:ext cx="7680600" cy="35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Reality of clinical samples: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&gt;99.9% of sequences are HOST DNA/RNA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&lt;0.1% are pathogen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Metagenomics generates millions of reads → but mostly useless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Impact on cost: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Need 100,000-1,000,000 total reads to achieve adequate pathogen coverage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Sequencing cost scales with read count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Solution: Enrichment to reduce host proportion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-93600" y="109800"/>
            <a:ext cx="93312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3: RNA Degradation &amp; Cold Chain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731520" y="1097280"/>
            <a:ext cx="7680600" cy="39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⚠️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 is fragile: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Single-stranded RNA highly susceptible to degradation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RNases ubiquitous in environment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Temperature fluctuations accelerate degradation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❄️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Critical cold chain requirements: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Samples must be transported at -20°C or on dry ice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Store at -80°C immediately upon receipt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Minimize time at room temperature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AVOID repeated freeze-thaw cycles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91840" y="109800"/>
            <a:ext cx="7959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Challenge 4: Cell Culture Alternatives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731520" y="1097280"/>
            <a:ext cx="7680600" cy="35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Produces high-titer virus (Ct ~10-15)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Pure viral genomes (minimal host)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TIME: 7-14 days for isolation &amp; propagation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COST: $200-500 per isolate (expensive equipment &amp; reagents)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SAFETY: Requires BSL-3 containment for RVFV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QUALITY: Viral passaging introduces mutations NOT in clinical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3: NGS Approaches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Selecting the Right Method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393120" y="109800"/>
            <a:ext cx="8357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1: Metagenomics (Unbiased)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731520" y="1097280"/>
            <a:ext cx="768060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Sequence everything in the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Unbiased - discovers unexpected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Useful when etiology UNKNOWN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Low sensitivity for low-abundance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Expensive (many reads wasted on host)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Slow analysis (extensive bioinformatic processing)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high coverage (100,000+ reads)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10040" y="109800"/>
            <a:ext cx="8323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2: Capture Probes (Targeted)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731520" y="1097280"/>
            <a:ext cx="768060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Biotinylated probes hybridize to target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Highly specific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Effective for very low titer samples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EXPENSIVE probe synthesis ($5,000-10,000 upfront)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SLOW workflow (hybridization steps)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Less cost-effective for rapid response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sequence knowledge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-650160" y="109800"/>
            <a:ext cx="10443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Approach 3: Amplicon PCR (RECOMMENDED) ⭐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731520" y="1097280"/>
            <a:ext cx="7680600" cy="46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PCR-amplified short DNA fragments, sequenced in parallel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Advantages: ⭐⭐⭐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specificity (mostly pathogen reads)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sensitivity (works with Ct &gt;30)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FAST (24-48 hours, not 14 days)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COST-EFFECTIVE ($50-100 per sample)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FLEXIBLE (design new primers for variants quickly)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Disadvantages: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Requires prior sequence knowledge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Cannot discover novel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98960" y="109800"/>
            <a:ext cx="8145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NGS Methods: Comparative Summary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457200" y="1188720"/>
            <a:ext cx="2102760" cy="59400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548640" y="1261800"/>
            <a:ext cx="1919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Criterion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5"/>
          <p:cNvSpPr/>
          <p:nvPr/>
        </p:nvSpPr>
        <p:spPr>
          <a:xfrm>
            <a:off x="2560320" y="1188720"/>
            <a:ext cx="2285640" cy="59400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2651760" y="1261800"/>
            <a:ext cx="2102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Metagenomics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4846320" y="1188720"/>
            <a:ext cx="2285640" cy="59400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8"/>
          <p:cNvSpPr/>
          <p:nvPr/>
        </p:nvSpPr>
        <p:spPr>
          <a:xfrm>
            <a:off x="4937760" y="1261800"/>
            <a:ext cx="21027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Capture Probes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9"/>
          <p:cNvSpPr/>
          <p:nvPr/>
        </p:nvSpPr>
        <p:spPr>
          <a:xfrm>
            <a:off x="7132320" y="1188720"/>
            <a:ext cx="2011320" cy="59400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7223760" y="1261800"/>
            <a:ext cx="1828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Amplicon PCR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11"/>
          <p:cNvSpPr/>
          <p:nvPr/>
        </p:nvSpPr>
        <p:spPr>
          <a:xfrm>
            <a:off x="457200" y="1874520"/>
            <a:ext cx="210276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2"/>
          <p:cNvSpPr/>
          <p:nvPr/>
        </p:nvSpPr>
        <p:spPr>
          <a:xfrm>
            <a:off x="548640" y="19476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Suitable Ct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13"/>
          <p:cNvSpPr/>
          <p:nvPr/>
        </p:nvSpPr>
        <p:spPr>
          <a:xfrm>
            <a:off x="2560320" y="18745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14"/>
          <p:cNvSpPr/>
          <p:nvPr/>
        </p:nvSpPr>
        <p:spPr>
          <a:xfrm>
            <a:off x="2651760" y="19476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&lt;25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5"/>
          <p:cNvSpPr/>
          <p:nvPr/>
        </p:nvSpPr>
        <p:spPr>
          <a:xfrm>
            <a:off x="4846320" y="18745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6"/>
          <p:cNvSpPr/>
          <p:nvPr/>
        </p:nvSpPr>
        <p:spPr>
          <a:xfrm>
            <a:off x="4937760" y="19476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&gt;25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17"/>
          <p:cNvSpPr/>
          <p:nvPr/>
        </p:nvSpPr>
        <p:spPr>
          <a:xfrm>
            <a:off x="7132320" y="1874520"/>
            <a:ext cx="201132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8"/>
          <p:cNvSpPr/>
          <p:nvPr/>
        </p:nvSpPr>
        <p:spPr>
          <a:xfrm>
            <a:off x="7223760" y="19476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20-35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19"/>
          <p:cNvSpPr/>
          <p:nvPr/>
        </p:nvSpPr>
        <p:spPr>
          <a:xfrm>
            <a:off x="457200" y="2560320"/>
            <a:ext cx="210276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0"/>
          <p:cNvSpPr/>
          <p:nvPr/>
        </p:nvSpPr>
        <p:spPr>
          <a:xfrm>
            <a:off x="548640" y="26334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Sensitivity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 21"/>
          <p:cNvSpPr/>
          <p:nvPr/>
        </p:nvSpPr>
        <p:spPr>
          <a:xfrm>
            <a:off x="2560320" y="25603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TextBox 22"/>
          <p:cNvSpPr/>
          <p:nvPr/>
        </p:nvSpPr>
        <p:spPr>
          <a:xfrm>
            <a:off x="2651760" y="26334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Low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23"/>
          <p:cNvSpPr/>
          <p:nvPr/>
        </p:nvSpPr>
        <p:spPr>
          <a:xfrm>
            <a:off x="4846320" y="25603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4"/>
          <p:cNvSpPr/>
          <p:nvPr/>
        </p:nvSpPr>
        <p:spPr>
          <a:xfrm>
            <a:off x="4937760" y="26334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High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25"/>
          <p:cNvSpPr/>
          <p:nvPr/>
        </p:nvSpPr>
        <p:spPr>
          <a:xfrm>
            <a:off x="7132320" y="2560320"/>
            <a:ext cx="201132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6"/>
          <p:cNvSpPr/>
          <p:nvPr/>
        </p:nvSpPr>
        <p:spPr>
          <a:xfrm>
            <a:off x="7223760" y="26334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Very High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 27"/>
          <p:cNvSpPr/>
          <p:nvPr/>
        </p:nvSpPr>
        <p:spPr>
          <a:xfrm>
            <a:off x="457200" y="3246120"/>
            <a:ext cx="210276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8"/>
          <p:cNvSpPr/>
          <p:nvPr/>
        </p:nvSpPr>
        <p:spPr>
          <a:xfrm>
            <a:off x="548640" y="33192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Turnaround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29"/>
          <p:cNvSpPr/>
          <p:nvPr/>
        </p:nvSpPr>
        <p:spPr>
          <a:xfrm>
            <a:off x="2560320" y="32461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30"/>
          <p:cNvSpPr/>
          <p:nvPr/>
        </p:nvSpPr>
        <p:spPr>
          <a:xfrm>
            <a:off x="2651760" y="33192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1-2 weeks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1"/>
          <p:cNvSpPr/>
          <p:nvPr/>
        </p:nvSpPr>
        <p:spPr>
          <a:xfrm>
            <a:off x="4846320" y="32461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32"/>
          <p:cNvSpPr/>
          <p:nvPr/>
        </p:nvSpPr>
        <p:spPr>
          <a:xfrm>
            <a:off x="4937760" y="33192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2-3 days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33"/>
          <p:cNvSpPr/>
          <p:nvPr/>
        </p:nvSpPr>
        <p:spPr>
          <a:xfrm>
            <a:off x="7132320" y="3246120"/>
            <a:ext cx="201132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34"/>
          <p:cNvSpPr/>
          <p:nvPr/>
        </p:nvSpPr>
        <p:spPr>
          <a:xfrm>
            <a:off x="7223760" y="33192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24-48 hrs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35"/>
          <p:cNvSpPr/>
          <p:nvPr/>
        </p:nvSpPr>
        <p:spPr>
          <a:xfrm>
            <a:off x="457200" y="3931920"/>
            <a:ext cx="210276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36"/>
          <p:cNvSpPr/>
          <p:nvPr/>
        </p:nvSpPr>
        <p:spPr>
          <a:xfrm>
            <a:off x="548640" y="40050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Cost/sample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37"/>
          <p:cNvSpPr/>
          <p:nvPr/>
        </p:nvSpPr>
        <p:spPr>
          <a:xfrm>
            <a:off x="2560320" y="39319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38"/>
          <p:cNvSpPr/>
          <p:nvPr/>
        </p:nvSpPr>
        <p:spPr>
          <a:xfrm>
            <a:off x="2651760" y="40050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$500-1000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39"/>
          <p:cNvSpPr/>
          <p:nvPr/>
        </p:nvSpPr>
        <p:spPr>
          <a:xfrm>
            <a:off x="4846320" y="39319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40"/>
          <p:cNvSpPr/>
          <p:nvPr/>
        </p:nvSpPr>
        <p:spPr>
          <a:xfrm>
            <a:off x="4937760" y="40050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$300-500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41"/>
          <p:cNvSpPr/>
          <p:nvPr/>
        </p:nvSpPr>
        <p:spPr>
          <a:xfrm>
            <a:off x="7132320" y="3931920"/>
            <a:ext cx="201132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42"/>
          <p:cNvSpPr/>
          <p:nvPr/>
        </p:nvSpPr>
        <p:spPr>
          <a:xfrm>
            <a:off x="7223760" y="40050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$50-100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43"/>
          <p:cNvSpPr/>
          <p:nvPr/>
        </p:nvSpPr>
        <p:spPr>
          <a:xfrm>
            <a:off x="457200" y="4617720"/>
            <a:ext cx="210276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44"/>
          <p:cNvSpPr/>
          <p:nvPr/>
        </p:nvSpPr>
        <p:spPr>
          <a:xfrm>
            <a:off x="548640" y="46908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Skill Required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45"/>
          <p:cNvSpPr/>
          <p:nvPr/>
        </p:nvSpPr>
        <p:spPr>
          <a:xfrm>
            <a:off x="2560320" y="46177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46"/>
          <p:cNvSpPr/>
          <p:nvPr/>
        </p:nvSpPr>
        <p:spPr>
          <a:xfrm>
            <a:off x="2651760" y="46908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Advanced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 47"/>
          <p:cNvSpPr/>
          <p:nvPr/>
        </p:nvSpPr>
        <p:spPr>
          <a:xfrm>
            <a:off x="4846320" y="4617720"/>
            <a:ext cx="228564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48"/>
          <p:cNvSpPr/>
          <p:nvPr/>
        </p:nvSpPr>
        <p:spPr>
          <a:xfrm>
            <a:off x="4937760" y="46908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Intermediate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49"/>
          <p:cNvSpPr/>
          <p:nvPr/>
        </p:nvSpPr>
        <p:spPr>
          <a:xfrm>
            <a:off x="7132320" y="4617720"/>
            <a:ext cx="2011320" cy="59400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50"/>
          <p:cNvSpPr/>
          <p:nvPr/>
        </p:nvSpPr>
        <p:spPr>
          <a:xfrm>
            <a:off x="7223760" y="46908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Basic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51"/>
          <p:cNvSpPr/>
          <p:nvPr/>
        </p:nvSpPr>
        <p:spPr>
          <a:xfrm>
            <a:off x="457200" y="5303520"/>
            <a:ext cx="210276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2"/>
          <p:cNvSpPr/>
          <p:nvPr/>
        </p:nvSpPr>
        <p:spPr>
          <a:xfrm>
            <a:off x="548640" y="5376600"/>
            <a:ext cx="191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Best For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53"/>
          <p:cNvSpPr/>
          <p:nvPr/>
        </p:nvSpPr>
        <p:spPr>
          <a:xfrm>
            <a:off x="2560320" y="53035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54"/>
          <p:cNvSpPr/>
          <p:nvPr/>
        </p:nvSpPr>
        <p:spPr>
          <a:xfrm>
            <a:off x="2651760" y="53766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Unknown pathogen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 55"/>
          <p:cNvSpPr/>
          <p:nvPr/>
        </p:nvSpPr>
        <p:spPr>
          <a:xfrm>
            <a:off x="4846320" y="5303520"/>
            <a:ext cx="228564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56"/>
          <p:cNvSpPr/>
          <p:nvPr/>
        </p:nvSpPr>
        <p:spPr>
          <a:xfrm>
            <a:off x="4937760" y="5376600"/>
            <a:ext cx="21027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High throughput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57"/>
          <p:cNvSpPr/>
          <p:nvPr/>
        </p:nvSpPr>
        <p:spPr>
          <a:xfrm>
            <a:off x="7132320" y="5303520"/>
            <a:ext cx="2011320" cy="59400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58"/>
          <p:cNvSpPr/>
          <p:nvPr/>
        </p:nvSpPr>
        <p:spPr>
          <a:xfrm>
            <a:off x="7223760" y="5376600"/>
            <a:ext cx="1828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82828"/>
                </a:solidFill>
                <a:latin typeface="Calibri"/>
              </a:rPr>
              <a:t>Rapid response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457200" y="2286000"/>
            <a:ext cx="82292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4: Tiled Amplicon PCR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Complete Genome Recovery from Low-Titer Samples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1376640" y="109800"/>
            <a:ext cx="6390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Tiled Amplicon Primer Design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731520" y="1097280"/>
            <a:ext cx="7680600" cy="39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Concept: Overlapping 'tiled' primers cover entire genome with NO GAPS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RVFV Primer Scheme: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74 total multiplex primers (38 in Pool 1, 36 in Pool 2)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Target amplicon size: ~400 bp (standard for short-read sequencing)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Coverage by segment: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L segment: 20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M segment: 12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S segment: 6 primer pairs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silico predicted coverage: 97-99%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-523440" y="109800"/>
            <a:ext cx="10190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Two-Pool Strategy Prevents Primer Interference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731520" y="1097280"/>
            <a:ext cx="7680600" cy="50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⚙️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Why two separate reactions?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Problem with single multiplex: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74 different primers competing for binding sites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Complementary primers hybridize to each other (primer-dimers)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PCR amplifies wrong products (primer-dimers instead of targets)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Wasteful and uneven coverage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Solution: Two-pool approach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Pool 1: Odd-numbered primers (1, 3, 5, ...) = 38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Pool 2: Even-numbered primers (2, 4, 6, ...) = 36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Run two separate PCR reactions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Reduces primer competition, minimizes dimers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857160" y="109800"/>
            <a:ext cx="7429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PCR Workflow Overview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731520" y="1097280"/>
            <a:ext cx="768060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0: Sample Preparation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1. RNA extraction from clinical sample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2. Quality assessment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1: PCR &amp; Library Preparation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3. cDNA synthesis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4. Amplicon PCR (Pool 1 &amp; Pool 2 reactions)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5. PCR cleanup (magnetic bead purification)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6. Library preparation (add sequencing adapters/barcodes)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2-3: Sequencing &amp; Analysis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7. Load library onto Illumina sequencer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8. Sequencing (12-24 hours)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9. Bioinformatic analysis (alignment, variant calling, consensus)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851760" y="109800"/>
            <a:ext cx="74397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PCR Reaction Conditions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731520" y="1097280"/>
            <a:ext cx="768060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🧪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Master mix components (per 50 µL reaction):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cDNA template: 2-5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Master mix (Taq polymerase, dNTPs): 25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Primer pool (Pool 1 or Pool 2): 10 µM, 5 µL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Water: variable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🌡️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PCR cycling: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Initial denaturation: 98°C, 30 sec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35 cycles: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Denaturation: 95°C, 15 sec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- Annealing: 63°C, 5 min (LONG annealing for specificity)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Hold: 4°C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Key features: Low primer conc., long annealing → high specificity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-877680" y="109800"/>
            <a:ext cx="10899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Real-World Results: Genome Coverage Comparison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731520" y="1188720"/>
            <a:ext cx="7680600" cy="425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Study Design: 5 cattle samples from RVF outbreaks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Compared 3 enrichment approaches on same samples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📈 Key Findings: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Cell Culture Enrichment (CCE):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Coverage: &gt;99% (gold standard)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Ct range: &gt;25 produces &gt;99% genomes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Time: 7-14 days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Cost: $200-500 per isolate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Amplicon PCR Enrichment (amPCRe):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Coverage: 80-97% (excellent!)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Ct range: &gt;30 produces &gt;80% genomes (LOW TITER SUCCESS!)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Time: 24-48 hours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✓ Cost: $50-100 per sample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Direct Sequencing (No enrichment):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Coverage: 25-70% (insufficient)</a:t>
            </a:r>
            <a:br>
              <a:rPr sz="1300"/>
            </a:br>
            <a:r>
              <a:rPr b="0" lang="en-US" sz="1300" spc="-1" strike="noStrike">
                <a:solidFill>
                  <a:srgbClr val="282828"/>
                </a:solidFill>
                <a:latin typeface="Calibri"/>
              </a:rPr>
              <a:t>    ✗ Failed for low-titer samples (Ct &gt;30)</a:t>
            </a:r>
            <a:br>
              <a:rPr sz="1300"/>
            </a:br>
            <a:endParaRPr b="0" lang="en-GB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616320" y="109800"/>
            <a:ext cx="7910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Quality Validation: SNP Concordance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3"/>
          <p:cNvSpPr/>
          <p:nvPr/>
        </p:nvSpPr>
        <p:spPr>
          <a:xfrm>
            <a:off x="731520" y="1097280"/>
            <a:ext cx="7680600" cy="39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How accurate is amplicon PCR sequencing?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Compared variant calls (SNPs) across all 3 methods: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Concordance Results (% of SNPs in perfect agreement):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 segment: 98.42% (191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 segment: 99.31% (147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 segment: 91.04% (67 SNPs identified)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Conclusion: Amplicon PCR variants are RELIABLE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Suitable for phylogenetic inference and evolutionary studies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5: Phylogenetics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From Sequences to Outbreak Intelligence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794520" y="109800"/>
            <a:ext cx="7554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Why Phylogenetic Analysis Matters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731520" y="1097280"/>
            <a:ext cx="768060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outbreak investigation: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Determine source (local amplification vs. imported)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Identify transmission chains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Assess genetic relationship of outbreak isolates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 zoonotic spillover events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📡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 surveillance: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Monitor temporal and spatial spread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 introduction of new lineages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Understand evolutionary dynamics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Guide control strategy decisions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820440" y="109800"/>
            <a:ext cx="7502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Lineage Classification System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731520" y="1097280"/>
            <a:ext cx="768060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Current classification: 15 lineages (A through O)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Based on glycoprotein (Gn) gene &amp; whole genome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Geographic Distribution: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C: Most predominant (since 1976)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H: Second most common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Other lineages: Geographically/temporally restricted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Multiple lineages co-circulate in single country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 clear geographic clustering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Suggests widespread transmission &amp; dispersal across Africa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1216800" y="109800"/>
            <a:ext cx="6710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Phylogenetic Tree Construction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731520" y="1097280"/>
            <a:ext cx="7680600" cy="54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🌳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Methods used: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Maximum Likelihood (ML): Statistically rigorous, assumes evolutionary model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Bayesian: Probabilistic, includes uncertainty estimates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Neighbor-Joining (NJ): Fast, good for large datasets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🔧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Software tools: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IQ-TREE: Fast ML trees, bootstrap support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MrBayes: Bayesian inference, posterior probabilities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PAUP: Classic phylogenetics software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Reference sequences: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51 unique Gn gene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47 unique whole genome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Chosen for bootstrap support &gt;70%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2"/>
          <p:cNvSpPr/>
          <p:nvPr/>
        </p:nvSpPr>
        <p:spPr>
          <a:xfrm>
            <a:off x="-787320" y="109800"/>
            <a:ext cx="107182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RVFV Typing Tool: Automated Lineage Assignment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3"/>
          <p:cNvSpPr/>
          <p:nvPr/>
        </p:nvSpPr>
        <p:spPr>
          <a:xfrm>
            <a:off x="731520" y="1097280"/>
            <a:ext cx="7680600" cy="50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🔗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Web Application: https://www.genomedetective.com/app/typingtool/rvfv/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🖥️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Command-line: https://github.com/ajodeh-juma/rvfvtyping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Workflow: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1. User submits sequence (Gn gene or whole genome)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2. DIAMOND search for species classification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3. MAFFT alignment to reference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4. ML tree construction (IQ-TREE)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5. Lineage assignment if bootstrap &gt;70%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Validation Results (Oyola et al. 2022):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Gn gene: 100% accuracy on 129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Whole genome: 99-100% accuracy on 234 sequences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2"/>
          <p:cNvSpPr/>
          <p:nvPr/>
        </p:nvSpPr>
        <p:spPr>
          <a:xfrm>
            <a:off x="-78480" y="109800"/>
            <a:ext cx="9300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Real Outbreak Application: Kenya 2021 RVF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3"/>
          <p:cNvSpPr/>
          <p:nvPr/>
        </p:nvSpPr>
        <p:spPr>
          <a:xfrm>
            <a:off x="731520" y="1097280"/>
            <a:ext cx="7680600" cy="58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Scenario: RVF outbreak detected in livestock (Kenya)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 Analysis: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 cattle samples collected from outbreak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All samples sequenced using amplicon PCR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Complete/near-complete genomes recovered (&gt;80% coverage)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Results: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ALL 5 samples assigned to LINEAGE C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phylogenetic consistency across methods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Epidemiological Implications: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Confirmed RVFV diagnosis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Likely ongoing local transmission (lineage C typical in Kenya)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Not new introduction from other region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Part 6: Implementation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Rapid Outbreak Response &amp; Surveillance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796320" y="109800"/>
            <a:ext cx="7551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Rapid Outbreak Response Timeline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731520" y="1097280"/>
            <a:ext cx="7680600" cy="66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🚨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1 - Outbreak Detection: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Sample collection from suspected cases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RT-qPCR screening for rapid confirmation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RNA extraction, immediate shipment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⏱️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2-3 - Sequencing: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cDNA synthesis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 + library prep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Load sequencer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Day 4-6 - Analysis &amp; Results: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Read alignment &amp; quality control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Consensus genome generation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Lineage assignment &amp; phylogenetic placement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REPORT TO HEALTH AUTHORITIES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Total turnaround: 5-6 days (vs. 7-14 days cell culture)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2274480" y="109800"/>
            <a:ext cx="45946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Cost-Benefit Analysis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731520" y="1097280"/>
            <a:ext cx="7680600" cy="58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Equipment: $20,000-50,000 (standard lab equipment)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Per-sample cost: $50-100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Equipment: $100,000+ (BSL-3 facility required)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Per-isolate cost: $200-500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📊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Cost comparison for 50-sample outbreak: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PCR: 50 × $100 = $5,000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culture: 50 × $500 = $25,000 ✗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⏰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Time cost: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Amplicon PCR: 2 days ✓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Cell culture: 14 days ✗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519480" y="109800"/>
            <a:ext cx="8104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Africa CDC Capacity Building Initiative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3"/>
          <p:cNvSpPr/>
          <p:nvPr/>
        </p:nvSpPr>
        <p:spPr>
          <a:xfrm>
            <a:off x="731520" y="1097280"/>
            <a:ext cx="7680600" cy="58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🎯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Goals: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Build genomic surveillance capacity in African labs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Reduce dependence on international reference centers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Enable rapid, local outbreak response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Create standardized protocols across pathogens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🌍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Implementation strategy: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Establish 5-10 regional NGS hubs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Training in amplicon protocol &amp; bioinformatics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Cloud-based analysis (low infrastructure cost)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Mentorship networks between labs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🧬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Multi-pathogen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Same workflow for dengue, chikungunya, Zika, etc.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Adaptable bioinformatic pipelines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-406800" y="109800"/>
            <a:ext cx="9957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Amplicon Sequencing for Multiple Arboviruses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731520" y="1097280"/>
            <a:ext cx="7680600" cy="58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DENGUE (DENV):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 co-circulating serotypes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Serotype identification crucial for vaccine strategy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Same amplicon PCR workflow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🦟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CHIKUNGUNYA (CHIKV):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Rapid global spread documented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Genomic analysis tracks geographic routes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Detection of virulence-associated variants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✓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UNIFIED APPROACH: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Design pathogen-specific primers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Use same PCR protocol &amp; equipment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Adapt bioinformatic pipeline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INTEGRATED ARBOVIRUS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2919960" y="109800"/>
            <a:ext cx="3303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731520" y="1097280"/>
            <a:ext cx="7680600" cy="66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1️⃣ Genomic surveillance transforms outbreak response - rapid, actionable intelligence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2️⃣ Amplicon PCR is RECOMMENDED for emerging disease surveillance: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Works with low-titer samples (Ct &gt;30)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Fast (24-48 hours) &amp; cost-effective ($50-100)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High sensitivity &amp; specificity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3️⃣ Phylogenetic analysis converts sequences into epidemiological answers: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Source of outbreak (imported vs. local)?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Transmission chains?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New lineage introduction?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4️⃣ Same methodology scales to multiple arboviruses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RVFV, dengue, chikungunya, Zika, West Nile...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    • </a:t>
            </a: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Enables integrated surveillance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282828"/>
                </a:solidFill>
                <a:latin typeface="Calibri"/>
              </a:rPr>
              <a:t>5️⃣ Africa CDC leadership critical for distributed capacity building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457200" y="2286000"/>
            <a:ext cx="8229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Discussion &amp; Questions</a:t>
            </a:r>
            <a:endParaRPr b="0" lang="en-GB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457200" y="4572000"/>
            <a:ext cx="8229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ffc107"/>
                </a:solidFill>
                <a:latin typeface="Calibri"/>
              </a:rPr>
              <a:t>Your Insights Matter!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1166400" y="457200"/>
            <a:ext cx="68104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Contact &amp; Further Resources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914400" y="1645920"/>
            <a:ext cx="7314840" cy="36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📧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Email &amp; Collaboration: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Samuel O. Oyola (ILRI): S.Oyola@cgiar.org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Edward Kiritu (Presentation Author)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Africa CDC: [Regional coordinator]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🔗 Online Tools &amp; Databases: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RVFV Typing Tool: https://www.genomedetective.com/app/typingtool/rvfv/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GitHub/Primal Scheme: https://github.com/artic-network/primal_schemes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NCBI GenBank: https://www.ncbi.nlm.nih.gov/genbank/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📚 Key Publications: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Oyola et al. (2022) BMC Genomics - RVFV lineage assignment tool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Juma et al. (2023) Viruses - Amplicon PCR methodology</a:t>
            </a:r>
            <a:br>
              <a:rPr sz="1300"/>
            </a:b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🎓 Training Resources: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Africa CDC Bioinformatic Training Portal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Coursera NGS Analysis Courses</a:t>
            </a:r>
            <a:br>
              <a:rPr sz="1300"/>
            </a:b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• EMBL-EBI Online Workshops</a:t>
            </a:r>
            <a:endParaRPr b="0" lang="en-GB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2026-06-14T13:34:24Z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