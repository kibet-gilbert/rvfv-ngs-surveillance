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Pathogen Identification &amp; Surveillance</a:t>
            </a:r>
            <a:br/>
            <a:r>
              <a:t>Through Next-Generation Sequencing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3657600"/>
            <a:ext cx="5486400" cy="0"/>
          </a:xfrm>
          <a:prstGeom prst="rect">
            <a:avLst/>
          </a:prstGeom>
          <a:ln w="381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C107"/>
                </a:solidFill>
              </a:defRPr>
            </a:pPr>
            <a:r>
              <a:t>Experiences from Bioinformatic Training by Africa CDC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B4B4B4"/>
                </a:solidFill>
              </a:defRPr>
            </a:pPr>
            <a:r>
              <a:t>Edward Kiritu, Research Associate</a:t>
            </a:r>
            <a:br/>
            <a:r>
              <a:t>ILRI Genomics Platform</a:t>
            </a:r>
            <a:br/>
            <a:r>
              <a:t>June 12, 2026 | Umeå University, Sweden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Presentation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🔬 Why genomic surveillance matters for emerging pathogens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🧪 Challenges in recovering viral genomes from clinical samples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🧬 Comparison of NGS approaches (Metagenomics vs. Targeted Enrichment)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🎯 Tiled amplicon sequencing methodology - practical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Real-world application: RVFV, Dengue, and Chikungunya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🔍 Lineage assignment and phylogenetic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🌍 Impact on outbreak response and surveillance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1: Rift Valley Fever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The Disease, The Virus, The Challenge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Rift Valley Fever: The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Endemic in sub-Saharan Africa &amp; Arabian Peninsula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Zoonotic disease transmitted by Aedes &amp; Culex mosquitoes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First described 1931 following sheep abortion epidemic in Kenya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Clinical manifestations: mild febrile illness → hemorrhagic fever, encephalitis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Case fatality ratio: 0.5-2.0% in humans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Livestock impact: High abortion rates, neonatal mortality (50-100%)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• WHO listed as priority for epidemic preparedness (post-2018)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RVFV Genome Organization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371600"/>
            <a:ext cx="7863840" cy="914400"/>
          </a:xfrm>
          <a:prstGeom prst="rect">
            <a:avLst/>
          </a:prstGeom>
          <a:solidFill>
            <a:srgbClr val="4682B4"/>
          </a:solidFill>
          <a:ln w="127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 Segment (6,404 bp) — RNA-dependent polymerase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68880"/>
            <a:ext cx="78638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 Segment (3,885 bp) — Glycoproteins (Gn, Gc)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566160"/>
            <a:ext cx="7863840" cy="914400"/>
          </a:xfrm>
          <a:prstGeom prst="rect">
            <a:avLst/>
          </a:prstGeom>
          <a:solidFill>
            <a:srgbClr val="CC0033"/>
          </a:solidFill>
          <a:ln w="12700">
            <a:solidFill>
              <a:srgbClr val="CC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 Segment (1,690 bp) — Nucleocapsid (NP) &amp; NSs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RVFV Genetic Diversity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Lineages: 15 distinct lineages identified in Africa (A through 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Lineage C: Most predominant (documented since 1976)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Lineage H: Second most common in recent outbreaks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Other lineages: Geographically or temporally restricted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🧬 Low genetic diversity overall: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4% nucleotide-level variation (highest: ~5% in M-segment)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1% amino acid-level variation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NO well-defined serotypes (unlike dengue virus)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Related Mosquito-Borne Pathogens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🦟 DENGUE VIRUS (DENV):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4 serotypes (DENV-1 to DENV-4)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Single-stranded RNA genome (~10.7-11 kb)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WHO: Top 10 global public health threats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🦟 CHIKUNGUNYA VIRUS (CHIKV):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Genome: ~11.8 kb single-stranded RNA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Characteristic debilitating joint pain (arthralgia)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Endemic in &gt;110 countries; significant African circulation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2: NGS 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Why Low Titers &amp; Sample Quality Matter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 1: Low Viral Titers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❌ RT-qPCR Ct values: Higher = lower viral load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Ct &lt;20: High viral load (excellent for sequencing)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Ct 20-30: Moderate load (suitable for amplicon PCR)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Ct &gt;30: LOW viral load (metagenomics fails)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Why This Matters: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Viremia drops 8 days post-infection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Clinical samples often delayed (&gt;8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Metagenomics needs 99.9% of reads to be pathogen → impossible with Ct &gt;30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 2: Host Background Contamination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Reality of clinical samples: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&gt;99.9% of sequences are HOST DNA/RNA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&lt;0.1% are pathogen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Metagenomics generates millions of reads → but mostly useless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💰 Impact on cost: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Need 100,000-1,000,000 total reads to achieve adequate pathogen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Sequencing cost scales with read count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Solution: Enrichment to reduce host proportion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 3: RNA Degradation &amp; Cold 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⚠️ RNA is fragile: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Single-stranded RNA highly susceptible to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RNases ubiquitous in environment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Temperature fluctuations accelerate degradation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❄️ Critical cold chain requirements: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Samples must be transported at -20°C or on dry ice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Store at -80°C immediately upon receipt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Minimize time at room temperature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AVOID repeated freeze-thaw cycles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Challenge 4: Cell Culture Alternatives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Produces high-titer virus (Ct ~10-15)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Pure viral genomes (minimal host)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✗ Disadvantages: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TIME: 7-14 days for isolation &amp; propagation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COST: $200-500 per isolate (expensive equipment &amp; reagents)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SAFETY: Requires BSL-3 containment for RVFV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QUALITY: Viral passaging introduces mutations NOT in clinical sample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3: NGS Approaches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Selecting the Right Method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Approach 1: Metagenomics (Unbiased)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Concept: Sequence everything in the sample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Unbiased - discovers unexpected pathogens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Useful when etiology UNKNOWN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✗ Disadvantages: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Low sensitivity for low-abundance pathogens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Expensive (many reads wasted on host)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Slow analysis (extensive bioinformatic processing)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Requires high coverage (100,000+ reads)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Approach 2: Capture Probes (Targeted)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Concept: Biotinylated probes hybridize to target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Highly specific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Effective for very low titer samples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✗ Disadvantages: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EXPENSIVE probe synthesis ($5,000-10,000 upfront)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SLOW workflow (hybridization steps)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Less cost-effective for rapid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Requires sequence knowledge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Approach 3: Amplicon PCR (RECOMMENDED) 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Concept: PCR-amplified short DNA fragments, sequenced in parallel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Advantages: ⭐⭐⭐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HIGH specificity (mostly pathogen reads)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HIGH sensitivity (works with Ct &gt;30)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FAST (24-48 hours, not 14 days)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COST-EFFECTIVE ($50-100 per sample)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FLEXIBLE (design new primers for variants quickly)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✗ Disadvantages: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Requires prior sequence knowledge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Cannot discover novel pathogens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NGS Methods: Comparative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103120" cy="59436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618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Criterion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1188720"/>
            <a:ext cx="2286000" cy="59436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1261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Metagenomics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1188720"/>
            <a:ext cx="2286000" cy="59436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37759" y="1261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Capture Probes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188720"/>
            <a:ext cx="2011680" cy="594360"/>
          </a:xfrm>
          <a:prstGeom prst="rect">
            <a:avLst/>
          </a:prstGeom>
          <a:solidFill>
            <a:srgbClr val="192E61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59" y="1261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Amplicon PCR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1874519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476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Suitable 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60320" y="1874519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947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&lt;25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46320" y="1874519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59" y="1947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&gt;25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0" y="1874519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1947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20-35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2560320"/>
            <a:ext cx="21031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6334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Sensitivity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60320" y="25603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51760" y="26334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46320" y="25603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37759" y="26334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High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32320" y="2560320"/>
            <a:ext cx="20116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23759" y="26334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Very High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24612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3192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Turnaround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60320" y="324612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51760" y="3319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1-2 weeks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46320" y="324612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37759" y="3319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2-3 days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0" y="324612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23759" y="33192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24-48 hrs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3931920"/>
            <a:ext cx="21031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0050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Cost/sample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560320" y="39319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651760" y="4005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$500-1000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846320" y="39319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59" y="40050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$300-500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132320" y="3931920"/>
            <a:ext cx="20116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23759" y="40050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$50-100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4617720"/>
            <a:ext cx="210312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46908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Skill Required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461772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51760" y="4690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Advanced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846320" y="4617720"/>
            <a:ext cx="228600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937759" y="46908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Intermediate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132320" y="4617720"/>
            <a:ext cx="2011680" cy="594360"/>
          </a:xfrm>
          <a:prstGeom prst="rect">
            <a:avLst/>
          </a:prstGeom>
          <a:solidFill>
            <a:srgbClr val="FFFFFF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23759" y="46908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Basic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5303520"/>
            <a:ext cx="210312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5376672"/>
            <a:ext cx="192023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Best For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560320" y="53035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651760" y="5376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Unknown pathogen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846320" y="5303520"/>
            <a:ext cx="228600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937759" y="53766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High throughput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132320" y="5303520"/>
            <a:ext cx="2011680" cy="594360"/>
          </a:xfrm>
          <a:prstGeom prst="rect">
            <a:avLst/>
          </a:prstGeom>
          <a:solidFill>
            <a:srgbClr val="F5F5F5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23759" y="537667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282828"/>
                </a:solidFill>
              </a:defRPr>
            </a:pPr>
            <a:r>
              <a:t>Rapid response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4: Tiled Amplicon PCR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Complete Genome Recovery from Low-Titer Samples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Tiled Amplicon Primer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🎯 Concept: Overlapping 'tiled' primers cover entire genome with NO GAPS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RVFV Primer Scheme: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74 total multiplex primers (38 in Pool 1, 36 in Pool 2)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Target amplicon size: ~400 bp (standard for short-read sequencing)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Coverage by segment: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    - L segment: 20 primer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    - M segment: 12 primer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    - S segment: 6 primer pairs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In silico predicted coverage: 97-99%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Two-Pool Strategy Prevents Primer Interference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⚙️ Why two separate reactions?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Problem with single multiplex: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74 different primers competing for binding sites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Complementary primers hybridize to each other (primer-dimers)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PCR amplifies wrong products (primer-dimers instead of targets)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Wasteful and uneven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Solution: Two-pool approach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Pool 1: Odd-numbered primers (1, 3, 5, ...) = 38 primers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Pool 2: Even-numbered primers (2, 4, 6, ...) = 36 primers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Run two separate PCR reactions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Reduces primer competition, minimizes dimers ✓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Amplicon PCR Workflow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Day 0: Sample Preparation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1. RNA extraction from clinical sample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2. Quality assessment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Day 1: PCR &amp; Library Preparation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3. cDNA synthesis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4. Amplicon PCR (Pool 1 &amp; Pool 2 reactions)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5. PCR cleanup (magnetic bead purification)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6. Library preparation (add sequencing adapters/barcodes)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Day 2-3: Sequencing &amp; Analysis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7. Load library onto Illumina sequencer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8. Sequencing (12-24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9. Bioinformatic analysis (alignment, variant calling, consensus)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Amplicon PCR Reaction Conditions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🧪 Master mix components (per 50 µL reaction):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cDNA template: 2-5 µL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Master mix (Taq polymerase, dNTPs): 25 µL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Primer pool (Pool 1 or Pool 2): 10 µM, 5 µL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Water: variable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🌡️ PCR cycling: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Initial denaturation: 98°C, 30 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35 cycles: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    - Denaturation: 95°C, 15 sec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    - Annealing: 63°C, 5 min (LONG annealing for specificity)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Hold: 4°C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Key features: Low primer conc., long annealing → high specificity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Real-World Results: Genome Coverage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282828"/>
                </a:solidFill>
              </a:defRPr>
            </a:pPr>
            <a:r>
              <a:t>📊 Study Design: 5 cattle samples from RVF outbreaks</a:t>
            </a:r>
            <a:br/>
            <a:r>
              <a:t>    Compared 3 enrichment approaches on same samples</a:t>
            </a:r>
            <a:br/>
            <a:br/>
            <a:r>
              <a:t>📈 Key Findings:</a:t>
            </a:r>
            <a:br/>
            <a:br/>
            <a:r>
              <a:t>Cell Culture Enrichment (CCE):</a:t>
            </a:r>
            <a:br/>
            <a:r>
              <a:t>    ✓ Coverage: &gt;99% (gold standard)</a:t>
            </a:r>
            <a:br/>
            <a:r>
              <a:t>    ✓ Ct range: &gt;25 produces &gt;99% genomes</a:t>
            </a:r>
            <a:br/>
            <a:r>
              <a:t>    ✗ Time: 7-14 days</a:t>
            </a:r>
            <a:br/>
            <a:r>
              <a:t>    ✗ Cost: $200-500 per isolate</a:t>
            </a:r>
            <a:br/>
            <a:br/>
            <a:r>
              <a:t>Amplicon PCR Enrichment (amPCRe):</a:t>
            </a:r>
            <a:br/>
            <a:r>
              <a:t>    ✓ Coverage: 80-97% (excellent!)</a:t>
            </a:r>
            <a:br/>
            <a:r>
              <a:t>    ✓ Ct range: &gt;30 produces &gt;80% genomes (LOW TITER SUCCESS!)</a:t>
            </a:r>
            <a:br/>
            <a:r>
              <a:t>    ✓ Time: 24-48 hours</a:t>
            </a:r>
            <a:br/>
            <a:r>
              <a:t>    ✓ Cost: $50-100 per sample</a:t>
            </a:r>
            <a:br/>
            <a:r>
              <a:t>    </a:t>
            </a:r>
            <a:br/>
            <a:r>
              <a:t>Direct Sequencing (No enrichment):</a:t>
            </a:r>
            <a:br/>
            <a:r>
              <a:t>    ✗ Coverage: 25-70% (insufficient)</a:t>
            </a:r>
            <a:br/>
            <a:r>
              <a:t>    ✗ Failed for low-titer samples (Ct &gt;30)</a:t>
            </a:r>
            <a:b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Quality Validation: SNP Concordance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How accurate is amplicon PCR sequencing?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Compared variant calls (SNPs) across all 3 methods: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Concordance Results (% of SNPs in perfect agreement):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 segment: 98.42% (191 SNPs identified)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 segment: 99.31% (147 SNPs identified)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 segment: 91.04% (67 SNPs identified)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💡 Conclusion: Amplicon PCR variants are RELIABLE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Suitable for phylogenetic inference and evolutionary studies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5: Phylogenetics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From Sequences to Outbreak Intelligence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Phylogenetic Analysis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🔍 In outbreak investigation: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Determine source (local amplification vs. imported)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Identify transmission chains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Assess genetic relationship of outbreak isolates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Detect zoonotic spillover events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📡 In surveillance: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Monitor temporal and spatial spread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Detect introduction of new lineages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Understand evolutionary dynamics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Guide control strategy decisions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RVFV Lineage Classification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Current classification: 15 lineages (A through O)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Based on glycoprotein (Gn) gene &amp; whole genome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Geographic Distribution: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Lineage C: Most predominant (since 1976)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Lineage H: Second most common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Other lineages: Geographically/temporally restricted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Multiple lineages co-circulate in single country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🎯 No clear geographic clustering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Suggests widespread transmission &amp; dispersal across Africa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Phylogenetic Tree Construction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🌳 Methods used: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Maximum Likelihood (ML): Statistically rigorous, assumes evolutionary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Bayesian: Probabilistic, includes uncertainty estimates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Neighbor-Joining (NJ): Fast, good for large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🔧 Software tools: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IQ-TREE: Fast ML trees, bootstrap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MrBayes: Bayesian inference, posterior probabilities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PAUP: Classic phylogenetics software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📍 Reference sequences: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51 unique Gn gene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47 unique whole genome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Chosen for bootstrap support &gt;70%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RVFV Typing Tool: Automated Lineage Assignment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🔗 Web Application: https://www.genomedetective.com/app/typingtool/rvfv/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🖥️ Command-line: https://github.com/ajodeh-juma/rvfvtyping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Workflow: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1. User submits sequence (Gn gene or whole genome)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2. DIAMOND search for species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3. MAFFT alignment to reference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4. ML tree construction (IQ-TREE)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5. Lineage assignment if bootstrap &gt;70%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Validation Results (Oyola et al. 2022):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Gn gene: 100% accuracy on 129 sequences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Whole genome: 99-100% accuracy on 234 sequences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Real Outbreak Application: Kenya 2021 RVF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📍 Scenario: RVF outbreak detected in livestock (Kenya)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Sample Analysis: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5 cattle samples collected from outbreak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All samples sequenced using amplicon PCR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Complete/near-complete genomes recovered (&gt;80% coverage)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ALL 5 samples assigned to LINEAGE 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High phylogenetic consistency across methods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Epidemiological Implications: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✓ Confirmed RVFV diagnosis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✓ Likely ongoing local transmission (lineage C typical in Kenya)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✓ Not new introduction from other region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Part 6: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Rapid Outbreak Response &amp; Surveillance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Rapid Outbreak Response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🚨 Day 1 - Outbreak Detection: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Sample collection from suspected cases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RT-qPCR screening for rapid confirmation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RNA extraction, immediate shipment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⏱️ Day 2-3 - Sequencing: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cDNA synthesis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Amplicon PCR + library prep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Load sequencer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Day 4-6 - Analysis &amp;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Read alignment &amp; quality control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Consensus genome generation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Lineage assignment &amp; phylogenetic placement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REPORT TO HEALTH AUTHORITIES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Total turnaround: 5-6 days (vs. 7-14 days cell culture)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Cost-Benefit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💰 Amplicon PCR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Equipment: $20,000-50,000 (standard lab equipment)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Per-sample cost: $50-100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💰 Cell Culture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Equipment: $100,000+ (BSL-3 facility required)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Per-isolate cost: $200-500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📊 Cost comparison for 50-sample outbreak: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Amplicon PCR: 50 × $100 = $5,000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Cell culture: 50 × $500 = $25,000 ✗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⏰ Time cost: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Amplicon PCR: 2 days ✓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Cell culture: 14 days ✗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Africa CDC Capacity Building Initiative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🎯 Goals: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Build genomic surveillance capacity in African labs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Reduce dependence on international reference centers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Enable rapid, local outbreak response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Create standardized protocols across pathogens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🌍 Implementation strategy: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Establish 5-10 regional NGS hubs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Training in amplicon protocol &amp; bioinformatics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Cloud-based analysis (low infrastructure cost)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Mentorship networks between labs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🧬 Multi-pathogen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Same workflow for dengue, chikungunya, Zika, etc.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Adaptable bioinformatic pipelines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Amplicon Sequencing for Multiple Arboviruses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🦟 DENGUE (DENV):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4 co-circulating serotypes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Serotype identification crucial for vaccine strategy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Same amplicon PCR workflow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🦟 CHIKUNGUNYA (CHIKV):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Rapid global spread documented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Genomic analysis tracks geographic routes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Detection of virulence-associated variants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✓ UNIFIED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Design pathogen-specific primers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Use same PCR protocol &amp; equipment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Adapt bioinformatic pipeline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INTEGRATED ARBOVIRUS SURVEILLANCE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92E61"/>
          </a:solidFill>
          <a:ln>
            <a:solidFill>
              <a:srgbClr val="192E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822960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1️⃣ Genomic surveillance transforms outbreak response - rapid, actionable intelligence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2️⃣ Amplicon PCR is RECOMMENDED for emerging disease surveillance: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Works with low-titer samples (Ct &gt;30)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Fast (24-48 hours) &amp; cost-effective ($50-100)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High sensitivity &amp; specificity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3️⃣ Phylogenetic analysis converts sequences into epidemiological answers: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Source of outbreak (imported vs. local)?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Transmission chains?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New lineage introduction?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4️⃣ Same methodology scales to multiple arboviruses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RVFV, dengue, chikungunya, Zika, West Nile...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    • Enables integrated surveillance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600">
                <a:solidFill>
                  <a:srgbClr val="282828"/>
                </a:solidFill>
              </a:defRPr>
            </a:pPr>
            <a:r>
              <a:t>5️⃣ Africa CDC leadership critical for distributed capacity building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809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Discussion &amp;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FFC107"/>
                </a:solidFill>
              </a:defRPr>
            </a:pPr>
            <a:r>
              <a:t>Your Insights Matter!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E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Contact &amp; Further Resources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>
                <a:solidFill>
                  <a:srgbClr val="FFFFFF"/>
                </a:solidFill>
              </a:defRPr>
            </a:pPr>
            <a:r>
              <a:t>📧 Email &amp; Collaboration:</a:t>
            </a:r>
            <a:br/>
            <a:r>
              <a:t>  • Samuel O. Oyola (ILRI): S.Oyola@cgiar.org</a:t>
            </a:r>
            <a:br/>
            <a:r>
              <a:t>  • Edward Kiritu (Presentation Author)</a:t>
            </a:r>
            <a:br/>
            <a:r>
              <a:t>  • Africa CDC: [Regional coordinator]</a:t>
            </a:r>
            <a:br/>
            <a:br/>
            <a:r>
              <a:t>🔗 Online Tools &amp; Databases:</a:t>
            </a:r>
            <a:br/>
            <a:r>
              <a:t>  • RVFV Typing Tool: https://www.genomedetective.com/app/typingtool/rvfv/</a:t>
            </a:r>
            <a:br/>
            <a:r>
              <a:t>  • GitHub/Primal Scheme: https://github.com/artic-network/primal_schemes</a:t>
            </a:r>
            <a:br/>
            <a:r>
              <a:t>  • NCBI GenBank: https://www.ncbi.nlm.nih.gov/genbank/</a:t>
            </a:r>
            <a:br/>
            <a:br/>
            <a:r>
              <a:t>📚 Key Publications:</a:t>
            </a:r>
            <a:br/>
            <a:r>
              <a:t>  • Oyola et al. (2022) BMC Genomics - RVFV lineage assignment tool</a:t>
            </a:r>
            <a:br/>
            <a:r>
              <a:t>  • Juma et al. (2023) Viruses - Amplicon PCR methodology</a:t>
            </a:r>
            <a:br/>
            <a:br/>
            <a:r>
              <a:t>🎓 Training Resources:</a:t>
            </a:r>
            <a:br/>
            <a:r>
              <a:t>  • Africa CDC Bioinformatic Training Portal</a:t>
            </a:r>
            <a:br/>
            <a:r>
              <a:t>  • Coursera NGS Analysis Courses</a:t>
            </a:r>
            <a:br/>
            <a:r>
              <a:t>  • EMBL-EBI Online Workshops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