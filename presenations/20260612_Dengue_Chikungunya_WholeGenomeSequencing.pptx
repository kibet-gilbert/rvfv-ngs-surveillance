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79" r:id="rId6"/>
    <p:sldId id="261" r:id="rId7"/>
    <p:sldId id="278" r:id="rId8"/>
    <p:sldId id="277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FEB53E-6805-4B3B-9470-873F446D1383}">
  <a:tblStyle styleId="{5AFEB53E-6805-4B3B-9470-873F446D13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9750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00" tIns="48600" rIns="97200" bIns="486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2725" y="0"/>
            <a:ext cx="3079750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00" tIns="48600" rIns="97200" bIns="486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837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00" tIns="48600" rIns="97200" bIns="486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0263"/>
            <a:ext cx="307975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00" tIns="48600" rIns="97200" bIns="486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75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7" name="Google Shape;227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837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75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fd80b300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00" cy="3838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fd80b300b_0_1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bfd80b300b_0_10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fd80b300b_0_9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bfd80b300b_0_93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bfd80b300b_0_936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f80a4129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f80a41292_0_1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bf80a41292_0_11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837" cy="4605338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fd80b300b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fd80b300b_0_88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bfd80b300b_0_888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fd80b300b_0_9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00" cy="3838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fd80b300b_0_92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bfd80b300b_0_921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837" cy="4605338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837" cy="4605338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837" cy="4605338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fd80b300b_0_1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fd80b300b_0_142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bfd80b300b_0_1424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20253f796_18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c20253f796_18_1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c20253f796_18_16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fd80b300b_0_1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fd80b300b_0_140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bfd80b300b_0_1400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fd80b300b_0_1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00" cy="3838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bfd80b300b_0_142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bfd80b300b_0_1420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fd80b300b_0_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00" cy="3838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fd80b300b_0_81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3bfd80b300b_0_812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fd80b300b_0_1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bfd80b300b_0_139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bfd80b300b_0_1394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d80b300b_0_9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00" cy="3838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bfd80b300b_0_92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bfd80b300b_0_926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fd80b300b_0_1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bfd80b300b_0_141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3bfd80b300b_0_1412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c20253f796_18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c20253f796_18_5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4700" cy="4605300"/>
          </a:xfrm>
          <a:prstGeom prst="rect">
            <a:avLst/>
          </a:prstGeom>
        </p:spPr>
        <p:txBody>
          <a:bodyPr spcFirstLastPara="1" wrap="square" lIns="97200" tIns="48600" rIns="97200" bIns="486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3c20253f796_18_56:notes"/>
          <p:cNvSpPr txBox="1">
            <a:spLocks noGrp="1"/>
          </p:cNvSpPr>
          <p:nvPr>
            <p:ph type="sldNum" idx="12"/>
          </p:nvPr>
        </p:nvSpPr>
        <p:spPr>
          <a:xfrm>
            <a:off x="4022725" y="9720263"/>
            <a:ext cx="3079800" cy="512700"/>
          </a:xfrm>
          <a:prstGeom prst="rect">
            <a:avLst/>
          </a:prstGeom>
        </p:spPr>
        <p:txBody>
          <a:bodyPr spcFirstLastPara="1" wrap="square" lIns="97200" tIns="48600" rIns="97200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 1">
  <p:cSld name="TITLE page 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12" name="Google Shape;12;p2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19;p2"/>
          <p:cNvSpPr txBox="1"/>
          <p:nvPr/>
        </p:nvSpPr>
        <p:spPr>
          <a:xfrm>
            <a:off x="9788525" y="1744663"/>
            <a:ext cx="16795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Better lives through livestock</a:t>
            </a:r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585788" y="3043238"/>
            <a:ext cx="10113962" cy="7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13" y="5753100"/>
            <a:ext cx="1354137" cy="63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585590" y="1630891"/>
            <a:ext cx="10688137" cy="139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712C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3" name="Google Shape;23;p2" descr="Map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21634" y="-99195"/>
            <a:ext cx="2956232" cy="2091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tandard no images">
  <p:cSld name="CONTENT Standard no image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/>
        </p:nvSpPr>
        <p:spPr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6212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7621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" name="Google Shape;26;p3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27" name="Google Shape;27;p3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4" name="Google Shape;34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116013"/>
            <a:ext cx="1460500" cy="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 txBox="1">
            <a:spLocks noGrp="1"/>
          </p:cNvSpPr>
          <p:nvPr>
            <p:ph type="title"/>
          </p:nvPr>
        </p:nvSpPr>
        <p:spPr>
          <a:xfrm>
            <a:off x="599965" y="427831"/>
            <a:ext cx="10972800" cy="6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68262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body" idx="1"/>
          </p:nvPr>
        </p:nvSpPr>
        <p:spPr>
          <a:xfrm>
            <a:off x="609600" y="1601969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200"/>
              <a:buFont typeface="Courier New"/>
              <a:buChar char="o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page 1">
  <p:cSld name="1_TITLE page 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/>
        </p:nvSpPr>
        <p:spPr>
          <a:xfrm>
            <a:off x="10221913" y="1246188"/>
            <a:ext cx="16795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Better lives through livestock</a:t>
            </a:r>
            <a:endParaRPr/>
          </a:p>
        </p:txBody>
      </p:sp>
      <p:grpSp>
        <p:nvGrpSpPr>
          <p:cNvPr id="40" name="Google Shape;40;p4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41" name="Google Shape;41;p4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" name="Google Shape;48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585788" y="3043238"/>
            <a:ext cx="10113962" cy="7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13" y="5753100"/>
            <a:ext cx="1354137" cy="63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80638" y="250825"/>
            <a:ext cx="1765300" cy="89693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 txBox="1">
            <a:spLocks noGrp="1"/>
          </p:cNvSpPr>
          <p:nvPr>
            <p:ph type="ctrTitle"/>
          </p:nvPr>
        </p:nvSpPr>
        <p:spPr>
          <a:xfrm>
            <a:off x="585590" y="1630891"/>
            <a:ext cx="10688137" cy="139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712C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page 1">
  <p:cSld name="2_TITLE page 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/>
        </p:nvSpPr>
        <p:spPr>
          <a:xfrm>
            <a:off x="10221913" y="1246188"/>
            <a:ext cx="16795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Better lives through livestock</a:t>
            </a:r>
            <a:endParaRPr/>
          </a:p>
        </p:txBody>
      </p:sp>
      <p:grpSp>
        <p:nvGrpSpPr>
          <p:cNvPr id="54" name="Google Shape;54;p5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55" name="Google Shape;55;p5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" name="Google Shape;6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585788" y="3043238"/>
            <a:ext cx="10113962" cy="7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13" y="5753100"/>
            <a:ext cx="1354137" cy="63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45763" y="234950"/>
            <a:ext cx="776287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 txBox="1">
            <a:spLocks noGrp="1"/>
          </p:cNvSpPr>
          <p:nvPr>
            <p:ph type="ctrTitle"/>
          </p:nvPr>
        </p:nvSpPr>
        <p:spPr>
          <a:xfrm>
            <a:off x="585590" y="1630891"/>
            <a:ext cx="10688137" cy="139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712C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page 1">
  <p:cSld name="3_TITLE page 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/>
          <p:nvPr/>
        </p:nvSpPr>
        <p:spPr>
          <a:xfrm>
            <a:off x="10221913" y="1246188"/>
            <a:ext cx="16795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Better lives through livestock</a:t>
            </a:r>
            <a:endParaRPr/>
          </a:p>
        </p:txBody>
      </p:sp>
      <p:grpSp>
        <p:nvGrpSpPr>
          <p:cNvPr id="68" name="Google Shape;68;p6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69" name="Google Shape;69;p6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6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6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6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6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6" name="Google Shape;7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585788" y="3043238"/>
            <a:ext cx="10113962" cy="7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13" y="5753100"/>
            <a:ext cx="1354137" cy="63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48938" y="436563"/>
            <a:ext cx="1025525" cy="76358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 txBox="1">
            <a:spLocks noGrp="1"/>
          </p:cNvSpPr>
          <p:nvPr>
            <p:ph type="ctrTitle"/>
          </p:nvPr>
        </p:nvSpPr>
        <p:spPr>
          <a:xfrm>
            <a:off x="585590" y="1630891"/>
            <a:ext cx="10688137" cy="139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6930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page 1">
  <p:cSld name="4_TITLE page 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/>
        </p:nvSpPr>
        <p:spPr>
          <a:xfrm>
            <a:off x="10221913" y="1246188"/>
            <a:ext cx="16795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Better lives through livestock</a:t>
            </a:r>
            <a:endParaRPr/>
          </a:p>
        </p:txBody>
      </p:sp>
      <p:grpSp>
        <p:nvGrpSpPr>
          <p:cNvPr id="82" name="Google Shape;82;p7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83" name="Google Shape;83;p7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0" name="Google Shape;9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585788" y="3043238"/>
            <a:ext cx="10113962" cy="7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13" y="5753100"/>
            <a:ext cx="1354137" cy="63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41000" y="373063"/>
            <a:ext cx="1012825" cy="8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>
            <a:spLocks noGrp="1"/>
          </p:cNvSpPr>
          <p:nvPr>
            <p:ph type="ctrTitle"/>
          </p:nvPr>
        </p:nvSpPr>
        <p:spPr>
          <a:xfrm>
            <a:off x="585590" y="1630891"/>
            <a:ext cx="10688137" cy="139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6930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page 1">
  <p:cSld name="5_TITLE page 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/>
        </p:nvSpPr>
        <p:spPr>
          <a:xfrm>
            <a:off x="10221913" y="1246188"/>
            <a:ext cx="16795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Better lives through livestock</a:t>
            </a:r>
            <a:endParaRPr/>
          </a:p>
        </p:txBody>
      </p:sp>
      <p:grpSp>
        <p:nvGrpSpPr>
          <p:cNvPr id="96" name="Google Shape;96;p8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97" name="Google Shape;97;p8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8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8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4" name="Google Shape;10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585788" y="3043238"/>
            <a:ext cx="10113962" cy="7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13" y="5753100"/>
            <a:ext cx="1354137" cy="63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67988" y="390525"/>
            <a:ext cx="898525" cy="82391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8"/>
          <p:cNvSpPr txBox="1">
            <a:spLocks noGrp="1"/>
          </p:cNvSpPr>
          <p:nvPr>
            <p:ph type="ctrTitle"/>
          </p:nvPr>
        </p:nvSpPr>
        <p:spPr>
          <a:xfrm>
            <a:off x="585590" y="1630891"/>
            <a:ext cx="10688137" cy="139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6930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banner image">
  <p:cSld name="CONTENT banner image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/>
        </p:nvSpPr>
        <p:spPr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6212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7621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" name="Google Shape;110;p9"/>
          <p:cNvGrpSpPr/>
          <p:nvPr/>
        </p:nvGrpSpPr>
        <p:grpSpPr>
          <a:xfrm>
            <a:off x="0" y="2782888"/>
            <a:ext cx="12192000" cy="50800"/>
            <a:chOff x="0" y="6813551"/>
            <a:chExt cx="12192000" cy="50800"/>
          </a:xfrm>
        </p:grpSpPr>
        <p:sp>
          <p:nvSpPr>
            <p:cNvPr id="111" name="Google Shape;111;p9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9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9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9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9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9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9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8" name="Google Shape;11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0463" y="3798888"/>
            <a:ext cx="1460500" cy="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1066795" y="3120247"/>
            <a:ext cx="10247633" cy="6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68262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body" idx="1"/>
          </p:nvPr>
        </p:nvSpPr>
        <p:spPr>
          <a:xfrm>
            <a:off x="1076430" y="3951845"/>
            <a:ext cx="10247633" cy="255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200"/>
              <a:buFont typeface="Courier New"/>
              <a:buChar char="o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2781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right image slanted">
  <p:cSld name="CONTENT right image slanted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/>
          <p:nvPr/>
        </p:nvSpPr>
        <p:spPr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6212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7621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10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126" name="Google Shape;126;p10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0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0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0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0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0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3" name="Google Shape;13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7975" y="6105525"/>
            <a:ext cx="1160463" cy="5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116013"/>
            <a:ext cx="1460500" cy="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0"/>
          <p:cNvSpPr>
            <a:spLocks noGrp="1"/>
          </p:cNvSpPr>
          <p:nvPr>
            <p:ph type="pic" idx="2"/>
          </p:nvPr>
        </p:nvSpPr>
        <p:spPr>
          <a:xfrm>
            <a:off x="7847771" y="25399"/>
            <a:ext cx="4344229" cy="6813551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599965" y="427831"/>
            <a:ext cx="8102600" cy="6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68262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7" name="Google Shape;137;p10"/>
          <p:cNvSpPr txBox="1">
            <a:spLocks noGrp="1"/>
          </p:cNvSpPr>
          <p:nvPr>
            <p:ph type="body" idx="1"/>
          </p:nvPr>
        </p:nvSpPr>
        <p:spPr>
          <a:xfrm>
            <a:off x="609600" y="1342716"/>
            <a:ext cx="723817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200"/>
              <a:buFont typeface="Courier New"/>
              <a:buChar char="o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left images slanted">
  <p:cSld name="CONTENT left images slanted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/>
          <p:nvPr/>
        </p:nvSpPr>
        <p:spPr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6212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7621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p11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1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1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1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1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1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8" name="Google Shape;14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3938" y="1108075"/>
            <a:ext cx="1460500" cy="460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1"/>
          <p:cNvSpPr txBox="1">
            <a:spLocks noGrp="1"/>
          </p:cNvSpPr>
          <p:nvPr>
            <p:ph type="title"/>
          </p:nvPr>
        </p:nvSpPr>
        <p:spPr>
          <a:xfrm>
            <a:off x="3455928" y="427831"/>
            <a:ext cx="8102600" cy="6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68262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1" name="Google Shape;151;p11"/>
          <p:cNvSpPr txBox="1">
            <a:spLocks noGrp="1"/>
          </p:cNvSpPr>
          <p:nvPr>
            <p:ph type="body" idx="1"/>
          </p:nvPr>
        </p:nvSpPr>
        <p:spPr>
          <a:xfrm>
            <a:off x="3455928" y="1342716"/>
            <a:ext cx="8102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200"/>
              <a:buFont typeface="Courier New"/>
              <a:buChar char="o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2" name="Google Shape;152;p11"/>
          <p:cNvSpPr>
            <a:spLocks noGrp="1"/>
          </p:cNvSpPr>
          <p:nvPr>
            <p:ph type="pic" idx="2"/>
          </p:nvPr>
        </p:nvSpPr>
        <p:spPr>
          <a:xfrm>
            <a:off x="0" y="0"/>
            <a:ext cx="2949575" cy="40640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1"/>
          <p:cNvSpPr>
            <a:spLocks noGrp="1"/>
          </p:cNvSpPr>
          <p:nvPr>
            <p:ph type="pic" idx="3"/>
          </p:nvPr>
        </p:nvSpPr>
        <p:spPr>
          <a:xfrm>
            <a:off x="0" y="4111100"/>
            <a:ext cx="3458339" cy="27024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FORM CONTENT with graphics on left">
  <p:cSld name="FREEFORM CONTENT with graphics on lef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/>
        </p:nvSpPr>
        <p:spPr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6212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7621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p12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157" name="Google Shape;157;p12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2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2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2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2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2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2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4" name="Google Shape;16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11525" y="1450975"/>
            <a:ext cx="1460500" cy="4603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2"/>
          <p:cNvSpPr txBox="1">
            <a:spLocks noGrp="1"/>
          </p:cNvSpPr>
          <p:nvPr>
            <p:ph type="body" idx="1"/>
          </p:nvPr>
        </p:nvSpPr>
        <p:spPr>
          <a:xfrm>
            <a:off x="3195734" y="1519491"/>
            <a:ext cx="8102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200"/>
              <a:buFont typeface="Courier New"/>
              <a:buChar char="o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7" name="Google Shape;167;p12"/>
          <p:cNvSpPr txBox="1">
            <a:spLocks noGrp="1"/>
          </p:cNvSpPr>
          <p:nvPr>
            <p:ph type="title"/>
          </p:nvPr>
        </p:nvSpPr>
        <p:spPr>
          <a:xfrm>
            <a:off x="3195734" y="768055"/>
            <a:ext cx="8102600" cy="6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68262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68" name="Google Shape;168;p12" descr="A picture containing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592" y="703952"/>
            <a:ext cx="2697512" cy="5671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FORM CONTENT with graphics on right">
  <p:cSld name="FREEFORM CONTENT with graphics on righ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/>
        </p:nvSpPr>
        <p:spPr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6212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7621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" name="Google Shape;171;p13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172" name="Google Shape;172;p13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3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3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3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3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3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3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9" name="Google Shape;17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038" y="1460500"/>
            <a:ext cx="1460500" cy="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3"/>
          <p:cNvSpPr txBox="1">
            <a:spLocks noGrp="1"/>
          </p:cNvSpPr>
          <p:nvPr>
            <p:ph type="body" idx="1"/>
          </p:nvPr>
        </p:nvSpPr>
        <p:spPr>
          <a:xfrm>
            <a:off x="682992" y="1519491"/>
            <a:ext cx="8102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200"/>
              <a:buFont typeface="Courier New"/>
              <a:buChar char="o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/>
          </p:nvPr>
        </p:nvSpPr>
        <p:spPr>
          <a:xfrm>
            <a:off x="682992" y="768055"/>
            <a:ext cx="8102600" cy="6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712C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83" name="Google Shape;183;p13" descr="A picture containing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53805" y="137301"/>
            <a:ext cx="2679445" cy="5633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pictures on right">
  <p:cSld name="CONTENT pictures on righ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/>
        </p:nvSpPr>
        <p:spPr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6212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7621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4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187" name="Google Shape;187;p14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4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4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4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4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4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4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4" name="Google Shape;19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7975" y="6105525"/>
            <a:ext cx="1160463" cy="5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116013"/>
            <a:ext cx="1460500" cy="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4"/>
          <p:cNvSpPr txBox="1">
            <a:spLocks noGrp="1"/>
          </p:cNvSpPr>
          <p:nvPr>
            <p:ph type="body" idx="1"/>
          </p:nvPr>
        </p:nvSpPr>
        <p:spPr>
          <a:xfrm>
            <a:off x="609600" y="1342716"/>
            <a:ext cx="8102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200"/>
              <a:buFont typeface="Courier New"/>
              <a:buChar char="o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7" name="Google Shape;197;p14"/>
          <p:cNvSpPr>
            <a:spLocks noGrp="1"/>
          </p:cNvSpPr>
          <p:nvPr>
            <p:ph type="pic" idx="2"/>
          </p:nvPr>
        </p:nvSpPr>
        <p:spPr>
          <a:xfrm>
            <a:off x="9245600" y="6350"/>
            <a:ext cx="2946400" cy="4443731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14"/>
          <p:cNvSpPr>
            <a:spLocks noGrp="1"/>
          </p:cNvSpPr>
          <p:nvPr>
            <p:ph type="pic" idx="3"/>
          </p:nvPr>
        </p:nvSpPr>
        <p:spPr>
          <a:xfrm>
            <a:off x="9245600" y="4515995"/>
            <a:ext cx="2946400" cy="2297555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14"/>
          <p:cNvSpPr txBox="1">
            <a:spLocks noGrp="1"/>
          </p:cNvSpPr>
          <p:nvPr>
            <p:ph type="title"/>
          </p:nvPr>
        </p:nvSpPr>
        <p:spPr>
          <a:xfrm>
            <a:off x="599965" y="427831"/>
            <a:ext cx="8102600" cy="6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712C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FORM with color line at bottom">
  <p:cSld name="FREEFORM with color line at bottom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 txBox="1"/>
          <p:nvPr/>
        </p:nvSpPr>
        <p:spPr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6212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7621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p15"/>
          <p:cNvGrpSpPr/>
          <p:nvPr/>
        </p:nvGrpSpPr>
        <p:grpSpPr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203" name="Google Shape;203;p15"/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5"/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5"/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5"/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5"/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0" name="Google Shape;21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FORM layout logo on right">
  <p:cSld name="FREEFORM layout logo on righ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/>
        </p:nvSpPr>
        <p:spPr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6212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7621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FORM layout logo on left">
  <p:cSld name="FREEFORM layout logo on lef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/>
        </p:nvSpPr>
        <p:spPr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6212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7621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7975" y="6105525"/>
            <a:ext cx="1160463" cy="5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PAGE">
  <p:cSld name="END PAGE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0050" y="5186363"/>
            <a:ext cx="11377613" cy="1541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>
            <a:spLocks noGrp="1"/>
          </p:cNvSpPr>
          <p:nvPr>
            <p:ph type="pic" idx="2"/>
          </p:nvPr>
        </p:nvSpPr>
        <p:spPr>
          <a:xfrm>
            <a:off x="400595" y="322325"/>
            <a:ext cx="11376551" cy="478255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FORM">
  <p:cSld name="FREEFORM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">
  <p:cSld name="2_content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17500" y="1717675"/>
            <a:ext cx="12888913" cy="299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>
            <a:spLocks noGrp="1"/>
          </p:cNvSpPr>
          <p:nvPr>
            <p:ph type="body" idx="1"/>
          </p:nvPr>
        </p:nvSpPr>
        <p:spPr>
          <a:xfrm>
            <a:off x="1213784" y="2911254"/>
            <a:ext cx="982609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>
            <a:spLocks noGrp="1"/>
          </p:cNvSpPr>
          <p:nvPr>
            <p:ph type="ctrTitle"/>
          </p:nvPr>
        </p:nvSpPr>
        <p:spPr>
          <a:xfrm>
            <a:off x="566838" y="1664313"/>
            <a:ext cx="106887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Genomic Surveillance of  Dengue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&amp; Chikungunya Virus</a:t>
            </a:r>
            <a:endParaRPr b="1"/>
          </a:p>
        </p:txBody>
      </p:sp>
      <p:sp>
        <p:nvSpPr>
          <p:cNvPr id="231" name="Google Shape;231;p21"/>
          <p:cNvSpPr txBox="1"/>
          <p:nvPr/>
        </p:nvSpPr>
        <p:spPr>
          <a:xfrm>
            <a:off x="736600" y="3513138"/>
            <a:ext cx="635793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Author name: </a:t>
            </a:r>
            <a:r>
              <a:rPr lang="en-US" sz="1800" b="1" i="1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Edward Kiritu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Position: </a:t>
            </a:r>
            <a:r>
              <a:rPr lang="en-US" sz="1800" b="1" i="1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Research Associate</a:t>
            </a:r>
            <a:endParaRPr sz="1800" b="1" i="1" u="none" strike="noStrike" cap="none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Arial"/>
              <a:buNone/>
            </a:pPr>
            <a:r>
              <a:rPr lang="en-US" sz="1800" i="1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Project: </a:t>
            </a:r>
            <a:r>
              <a:rPr lang="en-US" sz="1800" b="1" i="1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ILRI Genomics Platform</a:t>
            </a:r>
            <a:endParaRPr sz="1800" b="1" i="1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Program: </a:t>
            </a:r>
            <a:r>
              <a:rPr lang="en-US" sz="1800" b="1" i="1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US" sz="1800" b="1" i="1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alth</a:t>
            </a:r>
            <a:endParaRPr sz="1800" b="1" i="1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Arial"/>
              <a:buNone/>
            </a:pPr>
            <a:endParaRPr sz="1800" b="1" i="1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736600" y="4910063"/>
            <a:ext cx="5712900" cy="6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lang="en-US" sz="1600" b="0" i="1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Event;</a:t>
            </a:r>
            <a:r>
              <a:rPr lang="en-US" sz="1600" b="0" i="0" u="none" strike="noStrike" cap="non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Health Program Weekly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7625" y="0"/>
            <a:ext cx="12287250" cy="68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 txBox="1">
            <a:spLocks noGrp="1"/>
          </p:cNvSpPr>
          <p:nvPr>
            <p:ph type="title"/>
          </p:nvPr>
        </p:nvSpPr>
        <p:spPr>
          <a:xfrm>
            <a:off x="599965" y="427831"/>
            <a:ext cx="10972800" cy="67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Viral Disease Surveillance challenges</a:t>
            </a:r>
            <a:endParaRPr/>
          </a:p>
        </p:txBody>
      </p:sp>
      <p:sp>
        <p:nvSpPr>
          <p:cNvPr id="245" name="Google Shape;245;p23"/>
          <p:cNvSpPr txBox="1">
            <a:spLocks noGrp="1"/>
          </p:cNvSpPr>
          <p:nvPr>
            <p:ph type="body" idx="1"/>
          </p:nvPr>
        </p:nvSpPr>
        <p:spPr>
          <a:xfrm>
            <a:off x="609600" y="1601969"/>
            <a:ext cx="10972800" cy="457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Low Viral Titers:</a:t>
            </a:r>
            <a:r>
              <a:rPr lang="en-US" sz="1900" b="1" dirty="0"/>
              <a:t>  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This makes it difficult for standard sequencing methods like Metagenomics to "catch" the viral sequence.</a:t>
            </a: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Host Background</a:t>
            </a:r>
            <a:r>
              <a:rPr lang="en-US" sz="1900" b="1" dirty="0"/>
              <a:t>: 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In metagenomic sequencing, often more than 99.9% of the data generated belongs to the patient, not the pathogen.</a:t>
            </a: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b="1" dirty="0">
                <a:latin typeface="Arial"/>
                <a:ea typeface="Arial"/>
                <a:cs typeface="Arial"/>
                <a:sym typeface="Arial"/>
              </a:rPr>
              <a:t>Sample Degradation: 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Viral RNA is highly unstable and can degrade quickly if not handled correctly or kept in a strict "cold chain" (refrigerated/frozen) from the point of collection to the lab.</a:t>
            </a: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>
            <a:spLocks noGrp="1"/>
          </p:cNvSpPr>
          <p:nvPr>
            <p:ph type="title"/>
          </p:nvPr>
        </p:nvSpPr>
        <p:spPr>
          <a:xfrm>
            <a:off x="599965" y="427831"/>
            <a:ext cx="10972800" cy="67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252" name="Google Shape;252;p24"/>
          <p:cNvSpPr txBox="1">
            <a:spLocks noGrp="1"/>
          </p:cNvSpPr>
          <p:nvPr>
            <p:ph type="body" idx="1"/>
          </p:nvPr>
        </p:nvSpPr>
        <p:spPr>
          <a:xfrm>
            <a:off x="609600" y="1601969"/>
            <a:ext cx="10972800" cy="457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Sub-optimal viral loads in clinical samples often hinder detailed genomic analysis, such as phylogenetics and variant calling. These low viral titers creates a critical gap in pathogen surveillance that necessitates a molecular tool designed for whole genome recovery and accurate strain differentiation.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B2884A-41E5-C21B-4041-98E03A02D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2" y="936171"/>
            <a:ext cx="10072331" cy="5493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B16E03-F627-FB83-41E0-5D30670F8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94" y="597193"/>
            <a:ext cx="10972800" cy="677955"/>
          </a:xfrm>
        </p:spPr>
        <p:txBody>
          <a:bodyPr/>
          <a:lstStyle/>
          <a:p>
            <a:r>
              <a:rPr lang="en-US" dirty="0"/>
              <a:t>NGS Overview</a:t>
            </a:r>
          </a:p>
        </p:txBody>
      </p:sp>
    </p:spTree>
    <p:extLst>
      <p:ext uri="{BB962C8B-B14F-4D97-AF65-F5344CB8AC3E}">
        <p14:creationId xmlns:p14="http://schemas.microsoft.com/office/powerpoint/2010/main" val="622455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>
            <a:spLocks noGrp="1"/>
          </p:cNvSpPr>
          <p:nvPr>
            <p:ph type="title"/>
          </p:nvPr>
        </p:nvSpPr>
        <p:spPr>
          <a:xfrm>
            <a:off x="599965" y="427831"/>
            <a:ext cx="10972800" cy="6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712C3D"/>
                </a:solidFill>
              </a:rPr>
              <a:t>Tiled Amplicons Sequencing Approach</a:t>
            </a:r>
            <a:endParaRPr dirty="0"/>
          </a:p>
        </p:txBody>
      </p:sp>
      <p:sp>
        <p:nvSpPr>
          <p:cNvPr id="264" name="Google Shape;264;p26"/>
          <p:cNvSpPr txBox="1">
            <a:spLocks noGrp="1"/>
          </p:cNvSpPr>
          <p:nvPr>
            <p:ph type="body" idx="1"/>
          </p:nvPr>
        </p:nvSpPr>
        <p:spPr>
          <a:xfrm>
            <a:off x="599975" y="1250276"/>
            <a:ext cx="10972800" cy="50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800" dirty="0"/>
              <a:t>This is a </a:t>
            </a:r>
            <a:r>
              <a:rPr lang="en-US" sz="2800" b="1" dirty="0"/>
              <a:t>target enrichment </a:t>
            </a:r>
            <a:r>
              <a:rPr lang="en-US" sz="2800" dirty="0"/>
              <a:t>method which employs multiplex PCR to target viral genomes especially in sample with high </a:t>
            </a:r>
            <a:r>
              <a:rPr lang="en-US" sz="2800" dirty="0" err="1"/>
              <a:t>ct</a:t>
            </a:r>
            <a:r>
              <a:rPr lang="en-US" sz="2800" dirty="0"/>
              <a:t> Values (&gt; 30) (equivalent to 10 genome copies/ul)</a:t>
            </a:r>
          </a:p>
          <a:p>
            <a:pPr lvl="0" indent="-368300">
              <a:buSzPts val="2200"/>
              <a:buChar char="●"/>
            </a:pPr>
            <a:r>
              <a:rPr lang="en-US" sz="2800" dirty="0"/>
              <a:t>Tiling refers to the fact that neighboring amplicons overlap one another, ensuring that complete coverage of the target genome is achieved.</a:t>
            </a:r>
          </a:p>
          <a:p>
            <a:pPr lvl="0" indent="-368300">
              <a:buSzPts val="2200"/>
              <a:buChar char="●"/>
            </a:pPr>
            <a:r>
              <a:rPr lang="en-US" sz="2800" dirty="0"/>
              <a:t>To prevent short overlap products being produced between neighboring amplicons, 2 primer pools are used to alternate primer pairs. This avoids primer competition and dimer formation</a:t>
            </a:r>
          </a:p>
          <a:p>
            <a:pPr lvl="0" indent="-368300">
              <a:buSzPts val="2200"/>
              <a:buChar char="●"/>
            </a:pPr>
            <a:r>
              <a:rPr lang="en-US" sz="2800" dirty="0"/>
              <a:t>All regions of the genome are amplified in parallel, producing a dense set of overlapping PCR products.</a:t>
            </a:r>
          </a:p>
          <a:p>
            <a:pPr lvl="0" indent="-368300">
              <a:buSzPts val="2200"/>
              <a:buChar char="●"/>
            </a:pPr>
            <a:endParaRPr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9B90-B09C-0EC3-1EBD-A137545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Tiled amplicons Sequencing Workflow</a:t>
            </a:r>
          </a:p>
        </p:txBody>
      </p:sp>
      <p:pic>
        <p:nvPicPr>
          <p:cNvPr id="265" name="Google Shape;265;p26" title="Gemini_Generated_Image_ihysl9ihysl9ihy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9965" y="1214234"/>
            <a:ext cx="10220435" cy="5404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818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3B0F01-653D-1CBF-C7D8-0E93D0A06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1" y="215735"/>
            <a:ext cx="10352314" cy="564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75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 txBox="1">
            <a:spLocks noGrp="1"/>
          </p:cNvSpPr>
          <p:nvPr>
            <p:ph type="title"/>
          </p:nvPr>
        </p:nvSpPr>
        <p:spPr>
          <a:xfrm>
            <a:off x="599965" y="427831"/>
            <a:ext cx="10972800" cy="67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Target Enrichment Step…</a:t>
            </a:r>
            <a:endParaRPr dirty="0"/>
          </a:p>
        </p:txBody>
      </p:sp>
      <p:pic>
        <p:nvPicPr>
          <p:cNvPr id="272" name="Google Shape;272;p27" title="Tiling Proces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175" y="1202800"/>
            <a:ext cx="9144000" cy="556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8" descr="white background onl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 txBox="1">
            <a:spLocks noGrp="1"/>
          </p:cNvSpPr>
          <p:nvPr>
            <p:ph type="title"/>
          </p:nvPr>
        </p:nvSpPr>
        <p:spPr>
          <a:xfrm>
            <a:off x="600075" y="427038"/>
            <a:ext cx="10972800" cy="6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712C3D"/>
                </a:solidFill>
              </a:rPr>
              <a:t>Application.</a:t>
            </a:r>
            <a:endParaRPr dirty="0"/>
          </a:p>
        </p:txBody>
      </p:sp>
      <p:sp>
        <p:nvSpPr>
          <p:cNvPr id="284" name="Google Shape;284;p29"/>
          <p:cNvSpPr txBox="1">
            <a:spLocks noGrp="1"/>
          </p:cNvSpPr>
          <p:nvPr>
            <p:ph type="body" idx="1"/>
          </p:nvPr>
        </p:nvSpPr>
        <p:spPr>
          <a:xfrm>
            <a:off x="454324" y="1616316"/>
            <a:ext cx="5101087" cy="4572000"/>
          </a:xfrm>
          <a:prstGeom prst="rect">
            <a:avLst/>
          </a:prstGeom>
          <a:noFill/>
          <a:ln w="349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/>
              <a:t>Dengue is a mosquito-borne viral infection caused by any of four distinct serotypes (</a:t>
            </a:r>
            <a:r>
              <a:rPr lang="en-US" sz="1800" b="1" dirty="0"/>
              <a:t>DENV-1 </a:t>
            </a:r>
            <a:r>
              <a:rPr lang="en-US" sz="1800" dirty="0"/>
              <a:t>to</a:t>
            </a:r>
            <a:r>
              <a:rPr lang="en-US" sz="1800" b="1" dirty="0"/>
              <a:t> DENV-4)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/>
              <a:t>It has a single stranded RNA  genome which is approximately </a:t>
            </a:r>
            <a:r>
              <a:rPr lang="en-US" sz="1800" b="1" dirty="0"/>
              <a:t>10.7 to 11 kilobases (kb)</a:t>
            </a:r>
            <a:r>
              <a:rPr lang="en-US" sz="1800" dirty="0"/>
              <a:t> in length </a:t>
            </a:r>
            <a:endParaRPr sz="1800" b="1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/>
              <a:t>Recognized by the WHO as one of the top 10 global public health threats.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/>
              <a:t>Ranges from asymptomatic to life-threatening </a:t>
            </a:r>
            <a:r>
              <a:rPr lang="en-US" sz="1800" b="1" dirty="0"/>
              <a:t>Dengue Hemorrhagic Fever (DHF)</a:t>
            </a:r>
            <a:r>
              <a:rPr lang="en-US" sz="1800" dirty="0"/>
              <a:t> or </a:t>
            </a:r>
            <a:r>
              <a:rPr lang="en-US" sz="1800" b="1" dirty="0"/>
              <a:t>Dengue Shock Syndrome (DSS)</a:t>
            </a:r>
            <a:r>
              <a:rPr lang="en-US" sz="1800" dirty="0"/>
              <a:t>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/>
              <a:t>Heavily concentrated in tropical and subtropical climates, with rising incidence due to urbanization, travel, and climate change.</a:t>
            </a:r>
            <a:endParaRPr dirty="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dirty="0"/>
          </a:p>
        </p:txBody>
      </p:sp>
      <p:sp>
        <p:nvSpPr>
          <p:cNvPr id="285" name="Google Shape;285;p29"/>
          <p:cNvSpPr txBox="1"/>
          <p:nvPr/>
        </p:nvSpPr>
        <p:spPr>
          <a:xfrm>
            <a:off x="6471788" y="1616316"/>
            <a:ext cx="5101087" cy="4572000"/>
          </a:xfrm>
          <a:prstGeom prst="rect">
            <a:avLst/>
          </a:prstGeom>
          <a:noFill/>
          <a:ln w="349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Chikungunya is a viral disease primarily transmitted to humans by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Aedes aegypti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Aedes albopictus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mosquitoes.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CHIKV genome is approximately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11.8 kilobases (kb)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length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Infected individuals typically experience a sudden onset of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fever and severe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often debilitating joint pain, frequently accompanied by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muscle aches, headache, fatigue, and a skin rash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Chikungunya is currently widespread across more than 110 countries ongoing transmission in African nations such as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Kenya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Mauritius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2077530" y="1129148"/>
            <a:ext cx="213072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Dengue Virus</a:t>
            </a:r>
            <a:endParaRPr/>
          </a:p>
        </p:txBody>
      </p:sp>
      <p:sp>
        <p:nvSpPr>
          <p:cNvPr id="287" name="Google Shape;287;p29"/>
          <p:cNvSpPr txBox="1"/>
          <p:nvPr/>
        </p:nvSpPr>
        <p:spPr>
          <a:xfrm>
            <a:off x="7983747" y="1166754"/>
            <a:ext cx="2514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Chikungunya Virus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>
            <a:spLocks noGrp="1"/>
          </p:cNvSpPr>
          <p:nvPr>
            <p:ph type="title"/>
          </p:nvPr>
        </p:nvSpPr>
        <p:spPr>
          <a:xfrm>
            <a:off x="599965" y="427831"/>
            <a:ext cx="10972800" cy="6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Chikungunya Virus</a:t>
            </a:r>
            <a:br>
              <a:rPr lang="en-US" dirty="0"/>
            </a:br>
            <a:endParaRPr dirty="0"/>
          </a:p>
        </p:txBody>
      </p:sp>
      <p:pic>
        <p:nvPicPr>
          <p:cNvPr id="293" name="Google Shape;293;p3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08019" y="1105767"/>
            <a:ext cx="8576100" cy="52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 txBox="1">
            <a:spLocks noGrp="1"/>
          </p:cNvSpPr>
          <p:nvPr>
            <p:ph type="title"/>
          </p:nvPr>
        </p:nvSpPr>
        <p:spPr>
          <a:xfrm>
            <a:off x="599965" y="427831"/>
            <a:ext cx="10972800" cy="6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Dengue Virus</a:t>
            </a:r>
            <a:br>
              <a:rPr lang="en-US" dirty="0"/>
            </a:br>
            <a:endParaRPr dirty="0"/>
          </a:p>
        </p:txBody>
      </p:sp>
      <p:pic>
        <p:nvPicPr>
          <p:cNvPr id="299" name="Google Shape;299;p3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86746" y="1217688"/>
            <a:ext cx="8563500" cy="52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"/>
          <p:cNvSpPr txBox="1">
            <a:spLocks noGrp="1"/>
          </p:cNvSpPr>
          <p:nvPr>
            <p:ph type="title"/>
          </p:nvPr>
        </p:nvSpPr>
        <p:spPr>
          <a:xfrm>
            <a:off x="599965" y="427831"/>
            <a:ext cx="10972800" cy="67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Sample Processing</a:t>
            </a:r>
            <a:endParaRPr dirty="0"/>
          </a:p>
        </p:txBody>
      </p:sp>
      <p:sp>
        <p:nvSpPr>
          <p:cNvPr id="306" name="Google Shape;306;p32"/>
          <p:cNvSpPr txBox="1">
            <a:spLocks noGrp="1"/>
          </p:cNvSpPr>
          <p:nvPr>
            <p:ph type="body" idx="1"/>
          </p:nvPr>
        </p:nvSpPr>
        <p:spPr>
          <a:xfrm>
            <a:off x="609600" y="1601969"/>
            <a:ext cx="10972800" cy="457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We isolated RNA from Dengue or Chikungunya clinical sera samples </a:t>
            </a:r>
            <a:r>
              <a:rPr lang="en-US" b="1" dirty="0"/>
              <a:t>(n = 116)</a:t>
            </a:r>
            <a:r>
              <a:rPr lang="en-US" dirty="0"/>
              <a:t> using an automated bead-based </a:t>
            </a:r>
            <a:r>
              <a:rPr lang="en-US" dirty="0" err="1"/>
              <a:t>TANBead</a:t>
            </a:r>
            <a:r>
              <a:rPr lang="en-US" dirty="0"/>
              <a:t> Technology. 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All samples were screened using Multiplex tiling PCR primers to identify the Pathogen.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The amplicons were run through gel electrophoresis to determine Positive Samples.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 dirty="0"/>
              <a:t>11 Samples</a:t>
            </a:r>
            <a:r>
              <a:rPr lang="en-US" dirty="0"/>
              <a:t> were positive for Dengue and </a:t>
            </a:r>
            <a:r>
              <a:rPr lang="en-US" b="1" dirty="0"/>
              <a:t>30 Samples</a:t>
            </a:r>
            <a:r>
              <a:rPr lang="en-US" dirty="0"/>
              <a:t> were Positive for Chikungunya Viruses.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3" title="DENV2_gel8_plate2.jpg"/>
          <p:cNvPicPr preferRelativeResize="0"/>
          <p:nvPr/>
        </p:nvPicPr>
        <p:blipFill rotWithShape="1">
          <a:blip r:embed="rId3">
            <a:alphaModFix/>
          </a:blip>
          <a:srcRect l="13802" t="20804" r="28323" b="23088"/>
          <a:stretch/>
        </p:blipFill>
        <p:spPr>
          <a:xfrm>
            <a:off x="2248300" y="1654930"/>
            <a:ext cx="4423800" cy="428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3" title="DENV2_gel9_plate2.jpg"/>
          <p:cNvPicPr preferRelativeResize="0"/>
          <p:nvPr/>
        </p:nvPicPr>
        <p:blipFill rotWithShape="1">
          <a:blip r:embed="rId4">
            <a:alphaModFix/>
          </a:blip>
          <a:srcRect l="17657" t="23584" r="25749" b="20592"/>
          <a:stretch/>
        </p:blipFill>
        <p:spPr>
          <a:xfrm>
            <a:off x="6886075" y="1619580"/>
            <a:ext cx="4282049" cy="432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654930"/>
            <a:ext cx="2034325" cy="415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68125" y="1724230"/>
            <a:ext cx="1426750" cy="4083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3"/>
          <p:cNvSpPr txBox="1"/>
          <p:nvPr/>
        </p:nvSpPr>
        <p:spPr>
          <a:xfrm>
            <a:off x="2524522" y="1020968"/>
            <a:ext cx="75057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/>
              <a:t>DenV-2 Virus tiled Amplicons </a:t>
            </a:r>
            <a:endParaRPr b="1" u="sng" dirty="0"/>
          </a:p>
        </p:txBody>
      </p:sp>
      <p:sp>
        <p:nvSpPr>
          <p:cNvPr id="317" name="Google Shape;317;p33"/>
          <p:cNvSpPr txBox="1"/>
          <p:nvPr/>
        </p:nvSpPr>
        <p:spPr>
          <a:xfrm>
            <a:off x="2371700" y="1339455"/>
            <a:ext cx="43005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          84</a:t>
            </a:r>
            <a:endParaRPr/>
          </a:p>
        </p:txBody>
      </p:sp>
      <p:sp>
        <p:nvSpPr>
          <p:cNvPr id="318" name="Google Shape;318;p33"/>
          <p:cNvSpPr txBox="1"/>
          <p:nvPr/>
        </p:nvSpPr>
        <p:spPr>
          <a:xfrm>
            <a:off x="6876850" y="1339455"/>
            <a:ext cx="43005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                          98 99</a:t>
            </a:r>
            <a:endParaRPr/>
          </a:p>
        </p:txBody>
      </p:sp>
      <p:sp>
        <p:nvSpPr>
          <p:cNvPr id="3" name="Google Shape;305;p32">
            <a:extLst>
              <a:ext uri="{FF2B5EF4-FFF2-40B4-BE49-F238E27FC236}">
                <a16:creationId xmlns:a16="http://schemas.microsoft.com/office/drawing/2014/main" id="{D4434162-AB77-424E-8B5E-B07242C554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3661" y="462518"/>
            <a:ext cx="10972800" cy="67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Quality Checks &amp; Screening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34"/>
          <p:cNvGraphicFramePr/>
          <p:nvPr/>
        </p:nvGraphicFramePr>
        <p:xfrm>
          <a:off x="1216225" y="897225"/>
          <a:ext cx="9329750" cy="5050796"/>
        </p:xfrm>
        <a:graphic>
          <a:graphicData uri="http://schemas.openxmlformats.org/drawingml/2006/table">
            <a:tbl>
              <a:tblPr>
                <a:noFill/>
                <a:tableStyleId>{5AFEB53E-6805-4B3B-9470-873F446D1383}</a:tableStyleId>
              </a:tblPr>
              <a:tblGrid>
                <a:gridCol w="14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2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9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95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0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3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15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45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Sample No.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Sample ID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DENV1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DENV2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DENV3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DENV4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Sex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Age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Date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Sample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Location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7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063/12/2019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+ve*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 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 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 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M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59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 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Serum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Mombasa, Kenya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74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NR004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+ve*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Serum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Mombasa, Kenya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77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NR007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+ve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+ve*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Serum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Mombasa, Kenya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81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NR011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+ve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Serum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Mombasa, Kenya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82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NR012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+ve*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Serum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Mombasa, Kenya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83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NR013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+ve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+ve*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Serum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Mombasa, Kenya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84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NR014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+ve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+ve*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Serum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Mombasa, Kenya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96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NR026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+ve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+ve*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Serum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Somalia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97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NR027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+ve*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22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Serum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Somalia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98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NR028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+ve*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30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Serum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Somalia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99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NR029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+ve*</a:t>
                      </a:r>
                      <a:endParaRPr sz="1200" b="1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54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Serum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Somalia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Positive control 1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+ve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5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Positive control 2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+ve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25" name="Google Shape;325;p34"/>
          <p:cNvSpPr txBox="1"/>
          <p:nvPr/>
        </p:nvSpPr>
        <p:spPr>
          <a:xfrm>
            <a:off x="1278800" y="203700"/>
            <a:ext cx="9098700" cy="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/>
              <a:t>Positive Dengue samples.</a:t>
            </a:r>
            <a:endParaRPr sz="1800" b="1" u="sng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8225" y="962300"/>
            <a:ext cx="6676901" cy="540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800" y="962288"/>
            <a:ext cx="2416525" cy="49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16949" y="1037350"/>
            <a:ext cx="2120776" cy="503177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5"/>
          <p:cNvSpPr txBox="1"/>
          <p:nvPr/>
        </p:nvSpPr>
        <p:spPr>
          <a:xfrm>
            <a:off x="2229425" y="135800"/>
            <a:ext cx="75057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/>
              <a:t>Chikungunya Virus tiled Amplicons</a:t>
            </a:r>
            <a:endParaRPr b="1" u="sng" dirty="0"/>
          </a:p>
        </p:txBody>
      </p:sp>
      <p:sp>
        <p:nvSpPr>
          <p:cNvPr id="335" name="Google Shape;335;p35"/>
          <p:cNvSpPr txBox="1"/>
          <p:nvPr/>
        </p:nvSpPr>
        <p:spPr>
          <a:xfrm>
            <a:off x="3112125" y="588475"/>
            <a:ext cx="66231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   L       37      38      39      40      41     42      43     44       45     46      47     48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6" title="genome coverage Chik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575" y="531900"/>
            <a:ext cx="10190849" cy="595092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6"/>
          <p:cNvSpPr txBox="1"/>
          <p:nvPr/>
        </p:nvSpPr>
        <p:spPr>
          <a:xfrm>
            <a:off x="1969125" y="101850"/>
            <a:ext cx="77067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u="sng"/>
              <a:t>Chikungunya Genome Coverage</a:t>
            </a:r>
            <a:endParaRPr sz="1900" b="1" u="sng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9150" y="786150"/>
            <a:ext cx="8724900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0661CB-44C2-49A7-C399-E7A03A5BC6C8}"/>
              </a:ext>
            </a:extLst>
          </p:cNvPr>
          <p:cNvSpPr txBox="1"/>
          <p:nvPr/>
        </p:nvSpPr>
        <p:spPr>
          <a:xfrm>
            <a:off x="3252216" y="223901"/>
            <a:ext cx="5687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 Genome Coverage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8" title="Sequencing-summary_page-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525" y="666500"/>
            <a:ext cx="10144573" cy="563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8"/>
          <p:cNvSpPr txBox="1"/>
          <p:nvPr/>
        </p:nvSpPr>
        <p:spPr>
          <a:xfrm>
            <a:off x="2037025" y="237650"/>
            <a:ext cx="8419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/>
              <a:t>Mers-CoV Genome Coverage to cq-Values</a:t>
            </a:r>
            <a:endParaRPr b="1" u="sng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"/>
          <p:cNvSpPr txBox="1">
            <a:spLocks noGrp="1"/>
          </p:cNvSpPr>
          <p:nvPr>
            <p:ph type="title"/>
          </p:nvPr>
        </p:nvSpPr>
        <p:spPr>
          <a:xfrm>
            <a:off x="599965" y="427831"/>
            <a:ext cx="10972800" cy="67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62" name="Google Shape;362;p39"/>
          <p:cNvSpPr txBox="1">
            <a:spLocks noGrp="1"/>
          </p:cNvSpPr>
          <p:nvPr>
            <p:ph type="body" idx="1"/>
          </p:nvPr>
        </p:nvSpPr>
        <p:spPr>
          <a:xfrm>
            <a:off x="609600" y="1601969"/>
            <a:ext cx="10972800" cy="457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Tiled amplicon sequencing addresses the challenges by enabling sensitive, rapid, and cost-effective whole-genome recovery, making it a practical approach for large-scale surveillance and outbreak response.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0"/>
          <p:cNvSpPr txBox="1">
            <a:spLocks noGrp="1"/>
          </p:cNvSpPr>
          <p:nvPr>
            <p:ph type="title"/>
          </p:nvPr>
        </p:nvSpPr>
        <p:spPr>
          <a:xfrm>
            <a:off x="599965" y="427831"/>
            <a:ext cx="10972800" cy="67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Acknowledgements</a:t>
            </a:r>
            <a:endParaRPr/>
          </a:p>
        </p:txBody>
      </p:sp>
      <p:sp>
        <p:nvSpPr>
          <p:cNvPr id="369" name="Google Shape;369;p40"/>
          <p:cNvSpPr txBox="1">
            <a:spLocks noGrp="1"/>
          </p:cNvSpPr>
          <p:nvPr>
            <p:ph type="body" idx="1"/>
          </p:nvPr>
        </p:nvSpPr>
        <p:spPr>
          <a:xfrm>
            <a:off x="609600" y="1601969"/>
            <a:ext cx="10972800" cy="457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Dr Sam Oyola – </a:t>
            </a:r>
            <a:r>
              <a:rPr lang="en-US" sz="2000" i="1" u="sng" dirty="0"/>
              <a:t>Senior Scientist</a:t>
            </a:r>
            <a:endParaRPr sz="2000" i="1" u="sng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Dr Bernard Mware 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Dr John Juma 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Collins Muli 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Paul Dobi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Gilbert Kibet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Kennedy Mwangi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Shebbar Osiany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70" name="Google Shape;37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475" y="1344363"/>
            <a:ext cx="6247176" cy="416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5A8A4A-34BC-635E-BAE2-F4FE58376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24309"/>
      </p:ext>
    </p:extLst>
  </p:cSld>
  <p:clrMapOvr>
    <a:masterClrMapping/>
  </p:clrMapOvr>
</p:sld>
</file>

<file path=ppt/theme/theme1.xml><?xml version="1.0" encoding="utf-8"?>
<a:theme xmlns:a="http://schemas.openxmlformats.org/drawingml/2006/main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853</Words>
  <Application>Microsoft Office PowerPoint</Application>
  <PresentationFormat>Widescreen</PresentationFormat>
  <Paragraphs>236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Calibri</vt:lpstr>
      <vt:lpstr>Courier New</vt:lpstr>
      <vt:lpstr>Arial</vt:lpstr>
      <vt:lpstr>ilri_powerpoint_template_apr2013</vt:lpstr>
      <vt:lpstr>Genomic Surveillance of  Dengue  &amp; Chikungunya Virus</vt:lpstr>
      <vt:lpstr>PowerPoint Presentation</vt:lpstr>
      <vt:lpstr>Viral Disease Surveillance challenges</vt:lpstr>
      <vt:lpstr>Problem Statement</vt:lpstr>
      <vt:lpstr>NGS Overview</vt:lpstr>
      <vt:lpstr>Tiled Amplicons Sequencing Approach</vt:lpstr>
      <vt:lpstr>Tiled amplicons Sequencing Workflow</vt:lpstr>
      <vt:lpstr>PowerPoint Presentation</vt:lpstr>
      <vt:lpstr>Target Enrichment Step…</vt:lpstr>
      <vt:lpstr>PowerPoint Presentation</vt:lpstr>
      <vt:lpstr>Application.</vt:lpstr>
      <vt:lpstr>Chikungunya Virus </vt:lpstr>
      <vt:lpstr>Dengue Virus </vt:lpstr>
      <vt:lpstr>Sample Processing</vt:lpstr>
      <vt:lpstr>Quality Checks &amp;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Acknowledgements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Nyaga, Edward Kiritu (ILRI)</dc:creator>
  <cp:lastModifiedBy>Nyaga, Edward Kiritu (ILRI)</cp:lastModifiedBy>
  <cp:revision>4</cp:revision>
  <dcterms:modified xsi:type="dcterms:W3CDTF">2026-01-29T17:53:59Z</dcterms:modified>
</cp:coreProperties>
</file>